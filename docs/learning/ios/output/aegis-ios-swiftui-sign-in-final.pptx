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55ac759974f0a" /><Relationship Type="http://schemas.openxmlformats.org/officeDocument/2006/relationships/extended-properties" Target="/docProps/app.xml" Id="R8556dcd4ef864955" /><Relationship Type="http://schemas.openxmlformats.org/officeDocument/2006/relationships/officeDocument" Target="/ppt/presentation.xml" Id="R7f0e87210b4748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a0b3b3958c403b"/>
  </p:sldMasterIdLst>
  <p:notesMasterIdLst>
    <p:notesMasterId xmlns:r="http://schemas.openxmlformats.org/officeDocument/2006/relationships" r:id="R7e910ac75de644dc"/>
  </p:notesMasterIdLst>
  <p:sldIdLst>
    <p:sldId xmlns:r="http://schemas.openxmlformats.org/officeDocument/2006/relationships" id="256" r:id="Rfb172ce365a1493f"/>
    <p:sldId xmlns:r="http://schemas.openxmlformats.org/officeDocument/2006/relationships" id="257" r:id="R68b96667d9e84ab6"/>
    <p:sldId xmlns:r="http://schemas.openxmlformats.org/officeDocument/2006/relationships" id="258" r:id="R408ce5cc95b04307"/>
    <p:sldId xmlns:r="http://schemas.openxmlformats.org/officeDocument/2006/relationships" id="259" r:id="R4ec36e79d51b429f"/>
    <p:sldId xmlns:r="http://schemas.openxmlformats.org/officeDocument/2006/relationships" id="260" r:id="R2b7d6d267799496e"/>
    <p:sldId xmlns:r="http://schemas.openxmlformats.org/officeDocument/2006/relationships" id="261" r:id="R3a9e77480cca4cfe"/>
    <p:sldId xmlns:r="http://schemas.openxmlformats.org/officeDocument/2006/relationships" id="262" r:id="R8bf06567ff9647a8"/>
    <p:sldId xmlns:r="http://schemas.openxmlformats.org/officeDocument/2006/relationships" id="263" r:id="R2cc180ff5a7b4d1a"/>
    <p:sldId xmlns:r="http://schemas.openxmlformats.org/officeDocument/2006/relationships" id="264" r:id="R4091dc2aae9d4619"/>
    <p:sldId xmlns:r="http://schemas.openxmlformats.org/officeDocument/2006/relationships" id="265" r:id="Rd3fd74bbd1094b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b6f924ab0049c9" /><Relationship Type="http://schemas.openxmlformats.org/officeDocument/2006/relationships/slideMaster" Target="/ppt/slideMasters/slideMaster1.xml" Id="R78a0b3b3958c403b" /><Relationship Type="http://schemas.openxmlformats.org/officeDocument/2006/relationships/notesMaster" Target="/ppt/notesMasters/notesMaster1.xml" Id="R7e910ac75de644dc" /><Relationship Type="http://schemas.openxmlformats.org/officeDocument/2006/relationships/presProps" Target="/ppt/presProps.xml" Id="R4a435b7cf3e3424b" /><Relationship Type="http://schemas.openxmlformats.org/officeDocument/2006/relationships/tableStyles" Target="/ppt/tableStyles.xml" Id="R789210126f024207" /><Relationship Type="http://schemas.openxmlformats.org/officeDocument/2006/relationships/slide" Target="/ppt/slides/slide1.xml" Id="Rfb172ce365a1493f" /><Relationship Type="http://schemas.openxmlformats.org/officeDocument/2006/relationships/slide" Target="/ppt/slides/slide2.xml" Id="R68b96667d9e84ab6" /><Relationship Type="http://schemas.openxmlformats.org/officeDocument/2006/relationships/slide" Target="/ppt/slides/slide3.xml" Id="R408ce5cc95b04307" /><Relationship Type="http://schemas.openxmlformats.org/officeDocument/2006/relationships/slide" Target="/ppt/slides/slide4.xml" Id="R4ec36e79d51b429f" /><Relationship Type="http://schemas.openxmlformats.org/officeDocument/2006/relationships/slide" Target="/ppt/slides/slide5.xml" Id="R2b7d6d267799496e" /><Relationship Type="http://schemas.openxmlformats.org/officeDocument/2006/relationships/slide" Target="/ppt/slides/slide6.xml" Id="R3a9e77480cca4cfe" /><Relationship Type="http://schemas.openxmlformats.org/officeDocument/2006/relationships/slide" Target="/ppt/slides/slide7.xml" Id="R8bf06567ff9647a8" /><Relationship Type="http://schemas.openxmlformats.org/officeDocument/2006/relationships/slide" Target="/ppt/slides/slide8.xml" Id="R2cc180ff5a7b4d1a" /><Relationship Type="http://schemas.openxmlformats.org/officeDocument/2006/relationships/slide" Target="/ppt/slides/slide9.xml" Id="R4091dc2aae9d4619" /><Relationship Type="http://schemas.openxmlformats.org/officeDocument/2006/relationships/slide" Target="/ppt/slides/slide10.xml" Id="Rd3fd74bbd1094b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f1f3b754c40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707917e69b48f0" /><Relationship Type="http://schemas.openxmlformats.org/officeDocument/2006/relationships/notesMaster" Target="/ppt/notesMasters/notesMaster1.xml" Id="R1b7281ae221e4c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1f6cea144a40b7" /><Relationship Type="http://schemas.openxmlformats.org/officeDocument/2006/relationships/notesMaster" Target="/ppt/notesMasters/notesMaster1.xml" Id="R2e2960afbdf442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45b497e7d4314" /><Relationship Type="http://schemas.openxmlformats.org/officeDocument/2006/relationships/notesMaster" Target="/ppt/notesMasters/notesMaster1.xml" Id="R274c9a7bdd1348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8eedeac0944ce8" /><Relationship Type="http://schemas.openxmlformats.org/officeDocument/2006/relationships/notesMaster" Target="/ppt/notesMasters/notesMaster1.xml" Id="R5f7b8684c7e049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3367a8638244e9" /><Relationship Type="http://schemas.openxmlformats.org/officeDocument/2006/relationships/notesMaster" Target="/ppt/notesMasters/notesMaster1.xml" Id="R748cf4e7d58044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be84e039a24c7c" /><Relationship Type="http://schemas.openxmlformats.org/officeDocument/2006/relationships/notesMaster" Target="/ppt/notesMasters/notesMaster1.xml" Id="Rf0f8e16b203f48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72a1626dbe4e46" /><Relationship Type="http://schemas.openxmlformats.org/officeDocument/2006/relationships/notesMaster" Target="/ppt/notesMasters/notesMaster1.xml" Id="Rc76ff942bf6a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35760a644f4a34" /><Relationship Type="http://schemas.openxmlformats.org/officeDocument/2006/relationships/notesMaster" Target="/ppt/notesMasters/notesMaster1.xml" Id="R05e2ef9835f346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6f17ff8c8f4a61" /><Relationship Type="http://schemas.openxmlformats.org/officeDocument/2006/relationships/notesMaster" Target="/ppt/notesMasters/notesMaster1.xml" Id="R78792b374cee44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dc5eea96c74eec" /><Relationship Type="http://schemas.openxmlformats.org/officeDocument/2006/relationships/notesMaster" Target="/ppt/notesMasters/notesMaster1.xml" Id="Rc5991346864f44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Aegis learning-series cover artwork: docs/learning/assets/aegis-glass-cover.png. This is an educational deck, not a product screenshot. Project sources: README.md; docs/cahier-conception/02-scope.md; docs/cahier-conception/09-contrats-rest.md.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inspection on 2026-09-30: apps/ios contains only .gitkeep. Existing API scope is documented in services/api/README.md and implemented in services/api/src/main/java/ca/aegis/control/identity/AuthController.java. Mockup source: docs/design/asset-lifecycle/prototype/renders/ios/a/light/02-catalogue.png; approval: docs/design/asset-lifecycle/direction-validee.md. User has since requested real registration to be scoped first; this deck teaches the existing sign-in contract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primary sources: https://developer.apple.com/documentation/swiftui/model-data and https://developer.apple.com/documentation/SwiftUI/Managing-model-data-in-your-app . Observation with @Observable requires iOS 17 or later. This is a conceptual mapping, not an exact equivalence. Deployment target for Aegis iOS has not yet been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Aegis authority and trust boundary: README.md; docs/cahier-conception/02-scope.md §§7-8; docs/cahier-conception/09-contrats-rest.md §§1-2. iOS never accesses PostgreSQL or MQTT directly. Diagram is editable native PowerPoint text and connectors.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Existing contract: docs/cahier-conception/09-contrats-rest.md §§4.1-4.4, 10.2-10.3. Existing code: services/api/src/main/java/ca/aegis/control/identity/AuthController.java, LoginRequest.java, LoginResponse.java, UserProfile.java. The JSON is intentionally abbreviated for teaching; actual response also contains tokenType, expiresAt, and a full UserProfile. The placeholder is not a real password or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teaching code, not compiled. Contract source: docs/cahier-conception/09-contrats-rest.md §§3-4 and 10.2. Actual Java DTOs are LoginRequest.java, LoginResponse.java and UserProfile.java. Swift JSONDecoder defaults map these camelCase names. If role handling controls a workflow, handle unknown enum values conservatively rather than assuming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teaching code; URL composition and APIError parsing need implementation and tests. Apple primary source: https://developer.apple.com/documentation/foundation/urlsession/data%28for%3A%29 . Aegis status codes: docs/cahier-conception/09-contrats-rest.md §10.2 and §21. Prefer HTTPS outside isolated local development; do not bypass certificate verification to make an iPhone reach the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Aegis current decision: docs/cahier-conception/09-contrats-rest.md §§4.1-4.2 and 15.4. Keychain requirement is explicit there. Apple primary source: https://developer.apple.com/documentation/security/keychain-services/ . Do not use UserDefaults for tokens. The local sign-out does not revoke a copied JWT before its expiry. Do not invent a refresh-token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state design is a proposed implementation pattern, not existing iOS code. Aegis sign-in screen guidance: docs/design/asset-lifecycle/sections.md §3 and docs/design/asset-lifecycle/direction-validee.md. Error codes in docs/cahier-conception/09-contrats-rest.md §10.2. Native SwiftUI views and model data: https://developer.apple.com/documentation/swiftui/model-data . Aegis visual references are concept art only. Current signup desire remains a separate product decision awaiting scope and contract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Acceptance exercise proposed for the first iOS client slice. Existing backend routes: services/api/README.md. Planned catalogue contract: docs/cahier-conception/09-contrats-rest.md §11. Apple sources: https://developer.apple.com/documentation/foundation/urlsession/data%28for%3A%29 , https://developer.apple.com/documentation/security/keychain-services/ . No iOS source exists in the repo on 2026-09-30. Current registration request must be scoped separately before client implementation. Do not claim these checks have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034f0b86944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1feec31604c3c" /><Relationship Type="http://schemas.openxmlformats.org/officeDocument/2006/relationships/slideLayout" Target="/ppt/slideLayouts/slideLayout1.xml" Id="R360c44c7d6b746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0c44c7d6b746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f8c076fef41a4" /><Relationship Type="http://schemas.openxmlformats.org/officeDocument/2006/relationships/image" Target="/ppt/media/image.png" Id="R6538326d2a684a23" /><Relationship Type="http://schemas.openxmlformats.org/officeDocument/2006/relationships/notesSlide" Target="/ppt/notesSlides/notesSlide1.xml" Id="R9dde629676aa43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2559ff76b4cfe" /><Relationship Type="http://schemas.openxmlformats.org/officeDocument/2006/relationships/image" Target="/ppt/media/image2.png" Id="R7152a796867d4e02" /><Relationship Type="http://schemas.openxmlformats.org/officeDocument/2006/relationships/notesSlide" Target="/ppt/notesSlides/notesSlide2.xml" Id="Rd7bf1041ee2b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e540bd2714a8f" /><Relationship Type="http://schemas.openxmlformats.org/officeDocument/2006/relationships/notesSlide" Target="/ppt/notesSlides/notesSlide3.xml" Id="Rb9d203bc9aea44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109f5b60f4697" /><Relationship Type="http://schemas.openxmlformats.org/officeDocument/2006/relationships/notesSlide" Target="/ppt/notesSlides/notesSlide4.xml" Id="R7697b8da9c984a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7c9d03a794e8e" /><Relationship Type="http://schemas.openxmlformats.org/officeDocument/2006/relationships/notesSlide" Target="/ppt/notesSlides/notesSlide5.xml" Id="Rf53a8987a31e4c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b8c1189cd4c1c" /><Relationship Type="http://schemas.openxmlformats.org/officeDocument/2006/relationships/notesSlide" Target="/ppt/notesSlides/notesSlide6.xml" Id="R8a31cb72d06d4a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b90a764e04adc" /><Relationship Type="http://schemas.openxmlformats.org/officeDocument/2006/relationships/notesSlide" Target="/ppt/notesSlides/notesSlide7.xml" Id="R3291cb1d9fb740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ea443bb244f2c" /><Relationship Type="http://schemas.openxmlformats.org/officeDocument/2006/relationships/notesSlide" Target="/ppt/notesSlides/notesSlide8.xml" Id="R286cdb09ab4941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0684ddc6e41e0" /><Relationship Type="http://schemas.openxmlformats.org/officeDocument/2006/relationships/notesSlide" Target="/ppt/notesSlides/notesSlide9.xml" Id="Rb95e319d52684e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4e9c74d3c4a81" /><Relationship Type="http://schemas.openxmlformats.org/officeDocument/2006/relationships/notesSlide" Target="/ppt/notesSlides/notesSlide10.xml" Id="R916a8d8109d84d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8326d2a684a2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84-86">
            <a:extLst xmlns:a="http://schemas.openxmlformats.org/drawingml/2006/main">
              <a:ext uri="{FF2B5EF4-FFF2-40B4-BE49-F238E27FC236}">
                <a16:creationId xmlns:a16="http://schemas.microsoft.com/office/drawing/2014/main" id="{883DFDA8-AEAC-4172-9EC5-F7A74018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191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</a:t>
            </a:r>
          </a:p>
        </p:txBody>
      </p:sp>
      <p:sp>
        <p:nvSpPr>
          <p:cNvPr id="3" name="text-84-205">
            <a:extLst xmlns:a="http://schemas.openxmlformats.org/drawingml/2006/main">
              <a:ext uri="{FF2B5EF4-FFF2-40B4-BE49-F238E27FC236}">
                <a16:creationId xmlns:a16="http://schemas.microsoft.com/office/drawing/2014/main" id="{60BD8024-06DE-468A-87FD-A6B59CA8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7143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SwiftUI through</a:t>
            </a:r>
          </a:p>
          <a:p xmlns:a="http://schemas.openxmlformats.org/drawingml/2006/main">
            <a:pPr algn="l">
              <a:defRPr sz="45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a React lens</a:t>
            </a:r>
          </a:p>
        </p:txBody>
      </p:sp>
      <p:sp>
        <p:nvSpPr>
          <p:cNvPr id="4" name="text-87-421">
            <a:extLst xmlns:a="http://schemas.openxmlformats.org/drawingml/2006/main">
              <a:ext uri="{FF2B5EF4-FFF2-40B4-BE49-F238E27FC236}">
                <a16:creationId xmlns:a16="http://schemas.microsoft.com/office/drawing/2014/main" id="{F3127020-CCC8-432A-B6BF-BA77019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100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Part 01  /  Sign-in architecture</a:t>
            </a:r>
          </a:p>
        </p:txBody>
      </p:sp>
      <p:sp>
        <p:nvSpPr>
          <p:cNvPr id="5" name="text-87-487">
            <a:extLst xmlns:a="http://schemas.openxmlformats.org/drawingml/2006/main">
              <a:ext uri="{FF2B5EF4-FFF2-40B4-BE49-F238E27FC236}">
                <a16:creationId xmlns:a16="http://schemas.microsoft.com/office/drawing/2014/main" id="{2D65421C-C31E-4F98-BFA6-DFAA65E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386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 code-grounded guide for the first iOS slice</a:t>
            </a:r>
          </a:p>
        </p:txBody>
      </p:sp>
      <p:sp>
        <p:nvSpPr>
          <p:cNvPr id="6" name="text-87-640">
            <a:extLst xmlns:a="http://schemas.openxmlformats.org/drawingml/2006/main">
              <a:ext uri="{FF2B5EF4-FFF2-40B4-BE49-F238E27FC236}">
                <a16:creationId xmlns:a16="http://schemas.microsoft.com/office/drawing/2014/main" id="{ADA25A12-D54F-47BD-9054-C727E9C3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960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505932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2-38">
            <a:extLst xmlns:a="http://schemas.openxmlformats.org/drawingml/2006/main">
              <a:ext uri="{FF2B5EF4-FFF2-40B4-BE49-F238E27FC236}">
                <a16:creationId xmlns:a16="http://schemas.microsoft.com/office/drawing/2014/main" id="{D656FD8F-3BC7-482C-8837-825C60C7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0C905038-12E4-4914-A666-E2C13928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What exists today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6BFCC586-4D5C-48D7-88E3-85DF269D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43BE7440-A8C3-4D7C-B659-98E066D3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text-72-206">
            <a:extLst xmlns:a="http://schemas.openxmlformats.org/drawingml/2006/main">
              <a:ext uri="{FF2B5EF4-FFF2-40B4-BE49-F238E27FC236}">
                <a16:creationId xmlns:a16="http://schemas.microsoft.com/office/drawing/2014/main" id="{595E6FC7-CE1D-47A5-99D9-36D16F11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6" name="text-77-390">
            <a:extLst xmlns:a="http://schemas.openxmlformats.org/drawingml/2006/main">
              <a:ext uri="{FF2B5EF4-FFF2-40B4-BE49-F238E27FC236}">
                <a16:creationId xmlns:a16="http://schemas.microsoft.com/office/drawing/2014/main" id="{69CFC46A-84F4-4301-9ECA-9E4B8940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147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Swift source files in apps/ios/</a:t>
            </a:r>
          </a:p>
        </p:txBody>
      </p:sp>
      <p:sp>
        <p:nvSpPr>
          <p:cNvPr id="7" name="text-77-486">
            <a:extLst xmlns:a="http://schemas.openxmlformats.org/drawingml/2006/main">
              <a:ext uri="{FF2B5EF4-FFF2-40B4-BE49-F238E27FC236}">
                <a16:creationId xmlns:a16="http://schemas.microsoft.com/office/drawing/2014/main" id="{8522E0A1-CA39-43D4-8B0A-0CFB22E2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629150"/>
            <a:ext cx="5572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The Spring API already implements sign-in and /auth/me. The iOS image at right is approved concept art, not a running app.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2a796867d4e02"/>
          <a:stretch xmlns:a="http://schemas.openxmlformats.org/drawingml/2006/main"/>
        </p:blipFill>
        <p:spPr>
          <a:xfrm xmlns:a="http://schemas.openxmlformats.org/drawingml/2006/main">
            <a:off x="8393571" y="1600200"/>
            <a:ext cx="1977108" cy="4286250"/>
          </a:xfrm>
          <a:prstGeom xmlns:a="http://schemas.openxmlformats.org/drawingml/2006/main" prst="rect">
            <a:avLst/>
          </a:prstGeom>
        </p:spPr>
      </p:pic>
      <p:sp>
        <p:nvSpPr>
          <p:cNvPr id="9" name="text-785-632">
            <a:extLst xmlns:a="http://schemas.openxmlformats.org/drawingml/2006/main">
              <a:ext uri="{FF2B5EF4-FFF2-40B4-BE49-F238E27FC236}">
                <a16:creationId xmlns:a16="http://schemas.microsoft.com/office/drawing/2014/main" id="{DF2BA943-C685-46DF-93AD-2FCB7C8C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019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APPROVED VISUAL DIRECTION  /  CONCEPT ONLY</a:t>
            </a:r>
          </a:p>
        </p:txBody>
      </p:sp>
    </p:spTree>
    <p:extLst>
      <p:ext uri="{BB962C8B-B14F-4D97-AF65-F5344CB8AC3E}">
        <p14:creationId xmlns:p14="http://schemas.microsoft.com/office/powerpoint/2010/main" val="2872069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2-38">
            <a:extLst xmlns:a="http://schemas.openxmlformats.org/drawingml/2006/main">
              <a:ext uri="{FF2B5EF4-FFF2-40B4-BE49-F238E27FC236}">
                <a16:creationId xmlns:a16="http://schemas.microsoft.com/office/drawing/2014/main" id="{7E3C519B-68B9-4FF4-AABB-A4F90F6A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762FF3E7-9CA8-4A3C-88AF-11DCD53B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React ideas, SwiftUI names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A4094D6E-D7BA-4BA4-B7E1-AA287461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4FFFE511-D18D-4C70-AFF2-7D718127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text-72-201">
            <a:extLst xmlns:a="http://schemas.openxmlformats.org/drawingml/2006/main">
              <a:ext uri="{FF2B5EF4-FFF2-40B4-BE49-F238E27FC236}">
                <a16:creationId xmlns:a16="http://schemas.microsoft.com/office/drawing/2014/main" id="{B09AA5D1-C2AA-4864-A011-805A8264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3857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Familiar idea</a:t>
            </a:r>
          </a:p>
        </p:txBody>
      </p:sp>
      <p:sp>
        <p:nvSpPr>
          <p:cNvPr id="6" name="text-528-201">
            <a:extLst xmlns:a="http://schemas.openxmlformats.org/drawingml/2006/main">
              <a:ext uri="{FF2B5EF4-FFF2-40B4-BE49-F238E27FC236}">
                <a16:creationId xmlns:a16="http://schemas.microsoft.com/office/drawing/2014/main" id="{14622DFB-89C6-4563-86A6-782BD695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14525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rPr>
              <a:t>SwiftUI tool</a:t>
            </a:r>
          </a:p>
        </p:txBody>
      </p:sp>
      <p:sp>
        <p:nvSpPr>
          <p:cNvPr id="7" name="text-72-255">
            <a:extLst xmlns:a="http://schemas.openxmlformats.org/drawingml/2006/main">
              <a:ext uri="{FF2B5EF4-FFF2-40B4-BE49-F238E27FC236}">
                <a16:creationId xmlns:a16="http://schemas.microsoft.com/office/drawing/2014/main" id="{4759A3A3-B910-4DAD-A282-4DD4BD16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Function component</a:t>
            </a:r>
          </a:p>
        </p:txBody>
      </p:sp>
      <p:sp>
        <p:nvSpPr>
          <p:cNvPr id="8" name="text-528-255">
            <a:extLst xmlns:a="http://schemas.openxmlformats.org/drawingml/2006/main">
              <a:ext uri="{FF2B5EF4-FFF2-40B4-BE49-F238E27FC236}">
                <a16:creationId xmlns:a16="http://schemas.microsoft.com/office/drawing/2014/main" id="{9D7BE9F9-2137-44A1-9980-C2DD0849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288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struct View + body</a:t>
            </a:r>
          </a:p>
        </p:txBody>
      </p:sp>
      <p:sp>
        <p:nvSpPr>
          <p:cNvPr id="9" name="text-72-322">
            <a:extLst xmlns:a="http://schemas.openxmlformats.org/drawingml/2006/main">
              <a:ext uri="{FF2B5EF4-FFF2-40B4-BE49-F238E27FC236}">
                <a16:creationId xmlns:a16="http://schemas.microsoft.com/office/drawing/2014/main" id="{6A3850E1-8FEF-41B6-8FEF-76CE90A9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useState</a:t>
            </a:r>
          </a:p>
        </p:txBody>
      </p:sp>
      <p:sp>
        <p:nvSpPr>
          <p:cNvPr id="10" name="text-528-322">
            <a:extLst xmlns:a="http://schemas.openxmlformats.org/drawingml/2006/main">
              <a:ext uri="{FF2B5EF4-FFF2-40B4-BE49-F238E27FC236}">
                <a16:creationId xmlns:a16="http://schemas.microsoft.com/office/drawing/2014/main" id="{B9593713-FA19-4024-98C8-BB372A59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@State for local UI state</a:t>
            </a:r>
          </a:p>
        </p:txBody>
      </p:sp>
      <p:sp>
        <p:nvSpPr>
          <p:cNvPr id="11" name="text-72-389">
            <a:extLst xmlns:a="http://schemas.openxmlformats.org/drawingml/2006/main">
              <a:ext uri="{FF2B5EF4-FFF2-40B4-BE49-F238E27FC236}">
                <a16:creationId xmlns:a16="http://schemas.microsoft.com/office/drawing/2014/main" id="{AAE7C77E-EF62-46E5-848D-D4CED395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props</a:t>
            </a:r>
          </a:p>
        </p:txBody>
      </p:sp>
      <p:sp>
        <p:nvSpPr>
          <p:cNvPr id="12" name="text-528-389">
            <a:extLst xmlns:a="http://schemas.openxmlformats.org/drawingml/2006/main">
              <a:ext uri="{FF2B5EF4-FFF2-40B4-BE49-F238E27FC236}">
                <a16:creationId xmlns:a16="http://schemas.microsoft.com/office/drawing/2014/main" id="{D2A493A8-F12E-40B3-89BE-27B21F3D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stored view properties</a:t>
            </a:r>
          </a:p>
        </p:txBody>
      </p:sp>
      <p:sp>
        <p:nvSpPr>
          <p:cNvPr id="13" name="text-72-456">
            <a:extLst xmlns:a="http://schemas.openxmlformats.org/drawingml/2006/main">
              <a:ext uri="{FF2B5EF4-FFF2-40B4-BE49-F238E27FC236}">
                <a16:creationId xmlns:a16="http://schemas.microsoft.com/office/drawing/2014/main" id="{967220CD-0011-4E70-93CA-665550FF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shared observable state</a:t>
            </a:r>
          </a:p>
        </p:txBody>
      </p:sp>
      <p:sp>
        <p:nvSpPr>
          <p:cNvPr id="14" name="text-528-456">
            <a:extLst xmlns:a="http://schemas.openxmlformats.org/drawingml/2006/main">
              <a:ext uri="{FF2B5EF4-FFF2-40B4-BE49-F238E27FC236}">
                <a16:creationId xmlns:a16="http://schemas.microsoft.com/office/drawing/2014/main" id="{7846682B-9A5E-457F-AD2A-6AD870F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4340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@Observable model (iOS 17+)</a:t>
            </a:r>
          </a:p>
        </p:txBody>
      </p:sp>
      <p:sp>
        <p:nvSpPr>
          <p:cNvPr id="15" name="text-72-523">
            <a:extLst xmlns:a="http://schemas.openxmlformats.org/drawingml/2006/main">
              <a:ext uri="{FF2B5EF4-FFF2-40B4-BE49-F238E27FC236}">
                <a16:creationId xmlns:a16="http://schemas.microsoft.com/office/drawing/2014/main" id="{FC3EBA3E-A8CE-4251-BFF6-89585C22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effect on appearance</a:t>
            </a:r>
          </a:p>
        </p:txBody>
      </p:sp>
      <p:sp>
        <p:nvSpPr>
          <p:cNvPr id="16" name="text-528-523">
            <a:extLst xmlns:a="http://schemas.openxmlformats.org/drawingml/2006/main">
              <a:ext uri="{FF2B5EF4-FFF2-40B4-BE49-F238E27FC236}">
                <a16:creationId xmlns:a16="http://schemas.microsoft.com/office/drawing/2014/main" id="{10DB9A01-0778-4DC0-8729-3508B5C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81575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.task for async work</a:t>
            </a:r>
          </a:p>
        </p:txBody>
      </p:sp>
      <p:sp>
        <p:nvSpPr>
          <p:cNvPr id="17" name="text-72-603">
            <a:extLst xmlns:a="http://schemas.openxmlformats.org/drawingml/2006/main">
              <a:ext uri="{FF2B5EF4-FFF2-40B4-BE49-F238E27FC236}">
                <a16:creationId xmlns:a16="http://schemas.microsoft.com/office/drawing/2014/main" id="{35533901-6D51-4CE2-8E2B-46DB50F6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The mapping helps you learn. SwiftUI owns rendering and state lifetimes differently from React.</a:t>
            </a:r>
          </a:p>
        </p:txBody>
      </p:sp>
    </p:spTree>
    <p:extLst>
      <p:ext uri="{BB962C8B-B14F-4D97-AF65-F5344CB8AC3E}">
        <p14:creationId xmlns:p14="http://schemas.microsoft.com/office/powerpoint/2010/main" val="754256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2-38">
            <a:extLst xmlns:a="http://schemas.openxmlformats.org/drawingml/2006/main">
              <a:ext uri="{FF2B5EF4-FFF2-40B4-BE49-F238E27FC236}">
                <a16:creationId xmlns:a16="http://schemas.microsoft.com/office/drawing/2014/main" id="{C57603B4-1D27-480E-B3CC-E31A1E19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A05A0E5B-AB6B-4D2E-BFEF-219B6FC0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The iOS trust boundary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05884E6C-8038-400A-BEBF-E8C161D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25963B56-26F4-4DCC-A489-9C4CD04C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text-95-270">
            <a:extLst xmlns:a="http://schemas.openxmlformats.org/drawingml/2006/main">
              <a:ext uri="{FF2B5EF4-FFF2-40B4-BE49-F238E27FC236}">
                <a16:creationId xmlns:a16="http://schemas.microsoft.com/office/drawing/2014/main" id="{79DDB57E-C3DF-4B82-BE7C-1F4E1CB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333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iPhone</a:t>
            </a:r>
          </a:p>
          <a:p xmlns:a="http://schemas.openxmlformats.org/drawingml/2006/main">
            <a:pPr algn="ctr">
              <a:defRPr sz="187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SwiftUI</a:t>
            </a:r>
          </a:p>
        </p:txBody>
      </p:sp>
      <p:sp>
        <p:nvSpPr>
          <p:cNvPr id="6" name="text-500-270">
            <a:extLst xmlns:a="http://schemas.openxmlformats.org/drawingml/2006/main">
              <a:ext uri="{FF2B5EF4-FFF2-40B4-BE49-F238E27FC236}">
                <a16:creationId xmlns:a16="http://schemas.microsoft.com/office/drawing/2014/main" id="{60FB201B-678F-4D68-BFBF-808BA8B1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rPr>
              <a:t>Aegis Control</a:t>
            </a:r>
          </a:p>
          <a:p xmlns:a="http://schemas.openxmlformats.org/drawingml/2006/main">
            <a:pPr algn="ctr">
              <a:defRPr sz="187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rPr>
              <a:t>Spring API</a:t>
            </a:r>
          </a:p>
        </p:txBody>
      </p:sp>
      <p:sp>
        <p:nvSpPr>
          <p:cNvPr id="7" name="text-926-180">
            <a:extLst xmlns:a="http://schemas.openxmlformats.org/drawingml/2006/main">
              <a:ext uri="{FF2B5EF4-FFF2-40B4-BE49-F238E27FC236}">
                <a16:creationId xmlns:a16="http://schemas.microsoft.com/office/drawing/2014/main" id="{3BA8DBCB-D456-4DDB-99DF-2BCF8458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1450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def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private</a:t>
            </a:r>
          </a:p>
        </p:txBody>
      </p:sp>
      <p:sp>
        <p:nvSpPr>
          <p:cNvPr id="8" name="text-926-400">
            <a:extLst xmlns:a="http://schemas.openxmlformats.org/drawingml/2006/main">
              <a:ext uri="{FF2B5EF4-FFF2-40B4-BE49-F238E27FC236}">
                <a16:creationId xmlns:a16="http://schemas.microsoft.com/office/drawing/2014/main" id="{035D7EE2-C500-4114-A701-69903616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10000"/>
            <a:ext cx="2428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171450" tIns="171450" rIns="171450" bIns="1714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Broker + locker</a:t>
            </a:r>
          </a:p>
          <a:p xmlns:a="http://schemas.openxmlformats.org/drawingml/2006/main">
            <a:pPr algn="ctr">
              <a:def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MQTT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38500" y="31146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2B7FF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429500" y="2209800"/>
            <a:ext cx="13906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A2FF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429500" y="3114675"/>
            <a:ext cx="139065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A2FF"/>
            </a:solidFill>
            <a:prstDash val="solid"/>
            <a:tailEnd type="arrow" w="med" len="med"/>
          </a:ln>
        </p:spPr>
      </p:cxnSp>
      <p:sp>
        <p:nvSpPr>
          <p:cNvPr id="12" name="text-367-266">
            <a:extLst xmlns:a="http://schemas.openxmlformats.org/drawingml/2006/main">
              <a:ext uri="{FF2B5EF4-FFF2-40B4-BE49-F238E27FC236}">
                <a16:creationId xmlns:a16="http://schemas.microsoft.com/office/drawing/2014/main" id="{EF7E9992-A04C-4E94-9437-C51BD783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336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HTTPS</a:t>
            </a:r>
          </a:p>
        </p:txBody>
      </p:sp>
      <p:sp>
        <p:nvSpPr>
          <p:cNvPr id="13" name="text-95-560">
            <a:extLst xmlns:a="http://schemas.openxmlformats.org/drawingml/2006/main">
              <a:ext uri="{FF2B5EF4-FFF2-40B4-BE49-F238E27FC236}">
                <a16:creationId xmlns:a16="http://schemas.microsoft.com/office/drawing/2014/main" id="{57157700-E03B-4DE0-8BBC-6AE2888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The phone asks. The backend decides. The locker executes authorised commands.</a:t>
            </a:r>
          </a:p>
        </p:txBody>
      </p:sp>
    </p:spTree>
    <p:extLst>
      <p:ext uri="{BB962C8B-B14F-4D97-AF65-F5344CB8AC3E}">
        <p14:creationId xmlns:p14="http://schemas.microsoft.com/office/powerpoint/2010/main" val="1165583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2-38">
            <a:extLst xmlns:a="http://schemas.openxmlformats.org/drawingml/2006/main">
              <a:ext uri="{FF2B5EF4-FFF2-40B4-BE49-F238E27FC236}">
                <a16:creationId xmlns:a16="http://schemas.microsoft.com/office/drawing/2014/main" id="{D99AE81B-4AFB-46D6-91C2-397CB8E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1FC2546A-D951-4559-9998-1A4F94B2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The first HTTP contract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0D775D91-FBD9-4F73-A897-91C30C26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CFD60C43-C163-4EAE-AA04-C4F2816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text-72-194">
            <a:extLst xmlns:a="http://schemas.openxmlformats.org/drawingml/2006/main">
              <a:ext uri="{FF2B5EF4-FFF2-40B4-BE49-F238E27FC236}">
                <a16:creationId xmlns:a16="http://schemas.microsoft.com/office/drawing/2014/main" id="{B39C7CD3-8C27-4F79-9971-9C0704EC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2B7FF"/>
                </a:solidFill>
                <a:latin typeface="Menlo"/>
                <a:ea typeface="Menlo"/>
                <a:cs typeface="Menlo"/>
              </a:defRPr>
            </a:pPr>
            <a:r>
              <a:rPr sz="2100" b="1">
                <a:solidFill>
                  <a:srgbClr val="82B7FF"/>
                </a:solidFill>
                <a:latin typeface="Menlo"/>
                <a:ea typeface="Menlo"/>
                <a:cs typeface="Menlo"/>
              </a:rPr>
              <a:t>POST /api/v1/auth/login</a:t>
            </a:r>
          </a:p>
        </p:txBody>
      </p:sp>
      <p:sp>
        <p:nvSpPr>
          <p:cNvPr id="6" name="text-72-250">
            <a:extLst xmlns:a="http://schemas.openxmlformats.org/drawingml/2006/main">
              <a:ext uri="{FF2B5EF4-FFF2-40B4-BE49-F238E27FC236}">
                <a16:creationId xmlns:a16="http://schemas.microsoft.com/office/drawing/2014/main" id="{D592A085-D0D1-4C00-891F-81A45E46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762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42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"email": "technician@aegis.demo",</a:t>
            </a:r>
          </a:p>
          <a:p xmlns:a="http://schemas.openxmlformats.org/drawingml/2006/main">
            <a:pPr algn="l">
              <a:defRPr sz="142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"password": "&lt;entered by user&gt;"</a:t>
            </a:r>
          </a:p>
          <a:p xmlns:a="http://schemas.openxmlformats.org/drawingml/2006/main">
            <a:pPr algn="l">
              <a:defRPr sz="142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7" name="text-625-194">
            <a:extLst xmlns:a="http://schemas.openxmlformats.org/drawingml/2006/main">
              <a:ext uri="{FF2B5EF4-FFF2-40B4-BE49-F238E27FC236}">
                <a16:creationId xmlns:a16="http://schemas.microsoft.com/office/drawing/2014/main" id="{FB9B7660-8220-497D-AA45-EEA61E07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47850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rPr>
              <a:t>200 response</a:t>
            </a:r>
          </a:p>
        </p:txBody>
      </p:sp>
      <p:sp>
        <p:nvSpPr>
          <p:cNvPr id="8" name="text-625-250">
            <a:extLst xmlns:a="http://schemas.openxmlformats.org/drawingml/2006/main">
              <a:ext uri="{FF2B5EF4-FFF2-40B4-BE49-F238E27FC236}">
                <a16:creationId xmlns:a16="http://schemas.microsoft.com/office/drawing/2014/main" id="{51E27088-4306-4028-BC19-DDDDEC7E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5524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"accessToken": "&lt;opaque&gt;",</a:t>
            </a:r>
          </a:p>
          <a:p xmlns:a="http://schemas.openxmlformats.org/drawingml/2006/main">
            <a:pPr algn="l">
              <a:defRPr sz="157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"expiresIn": 3600,</a:t>
            </a:r>
          </a:p>
          <a:p xmlns:a="http://schemas.openxmlformats.org/drawingml/2006/main">
            <a:pPr algn="l">
              <a:defRPr sz="157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"user": { "role": "TECHNICIAN" }</a:t>
            </a:r>
          </a:p>
          <a:p xmlns:a="http://schemas.openxmlformats.org/drawingml/2006/main">
            <a:pPr algn="l">
              <a:defRPr sz="1575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text-72-540">
            <a:extLst xmlns:a="http://schemas.openxmlformats.org/drawingml/2006/main">
              <a:ext uri="{FF2B5EF4-FFF2-40B4-BE49-F238E27FC236}">
                <a16:creationId xmlns:a16="http://schemas.microsoft.com/office/drawing/2014/main" id="{E525C2EB-8E4A-45A1-AE1F-F5DBAE13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Then GET /api/v1/auth/me with Authorization: Bearer &lt;token&gt;.</a:t>
            </a:r>
          </a:p>
        </p:txBody>
      </p:sp>
      <p:sp>
        <p:nvSpPr>
          <p:cNvPr id="10" name="text-72-603">
            <a:extLst xmlns:a="http://schemas.openxmlformats.org/drawingml/2006/main">
              <a:ext uri="{FF2B5EF4-FFF2-40B4-BE49-F238E27FC236}">
                <a16:creationId xmlns:a16="http://schemas.microsoft.com/office/drawing/2014/main" id="{E7E7F865-4090-4B4A-B416-E035DA7C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The app reads the profile from the server; it never derives roles by decoding the JWT.</a:t>
            </a:r>
          </a:p>
        </p:txBody>
      </p:sp>
    </p:spTree>
    <p:extLst>
      <p:ext uri="{BB962C8B-B14F-4D97-AF65-F5344CB8AC3E}">
        <p14:creationId xmlns:p14="http://schemas.microsoft.com/office/powerpoint/2010/main" val="1152874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2-38">
            <a:extLst xmlns:a="http://schemas.openxmlformats.org/drawingml/2006/main">
              <a:ext uri="{FF2B5EF4-FFF2-40B4-BE49-F238E27FC236}">
                <a16:creationId xmlns:a16="http://schemas.microsoft.com/office/drawing/2014/main" id="{25FEC8DF-4129-4A65-88FD-2E249E40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2B5E1AFE-2D03-4BAE-BF17-6718F52C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Swift models mirror the wire format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E40C73BC-C6BF-467D-886C-6C50464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21BA9B08-FD12-4AC9-9F07-C6FF3AFC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text-72-192">
            <a:extLst xmlns:a="http://schemas.openxmlformats.org/drawingml/2006/main">
              <a:ext uri="{FF2B5EF4-FFF2-40B4-BE49-F238E27FC236}">
                <a16:creationId xmlns:a16="http://schemas.microsoft.com/office/drawing/2014/main" id="{A63743A0-4F1F-4350-84C9-0F78F544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4960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// Illustrative Swift; not in the repository yet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struct LoginRequest: Encodable {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email: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password: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struct UserProfile: Decodable {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id: UUID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displayName: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email: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role: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maximumAccessLevel: String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text-814-220">
            <a:extLst xmlns:a="http://schemas.openxmlformats.org/drawingml/2006/main">
              <a:ext uri="{FF2B5EF4-FFF2-40B4-BE49-F238E27FC236}">
                <a16:creationId xmlns:a16="http://schemas.microsoft.com/office/drawing/2014/main" id="{227D7EB4-5802-48FC-B05E-1CDD8AF8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Why Codable?</a:t>
            </a:r>
          </a:p>
        </p:txBody>
      </p:sp>
      <p:sp>
        <p:nvSpPr>
          <p:cNvPr id="7" name="text-814-285">
            <a:extLst xmlns:a="http://schemas.openxmlformats.org/drawingml/2006/main">
              <a:ext uri="{FF2B5EF4-FFF2-40B4-BE49-F238E27FC236}">
                <a16:creationId xmlns:a16="http://schemas.microsoft.com/office/drawing/2014/main" id="{D81AA2C0-E2EB-4C05-9B3B-E348B2D1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14625"/>
            <a:ext cx="3267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It maps the documented JSON fields to Swift values. Keep the token as an opaque string and keep business decisions on the server.</a:t>
            </a:r>
          </a:p>
        </p:txBody>
      </p:sp>
      <p:sp>
        <p:nvSpPr>
          <p:cNvPr id="8" name="text-814-514">
            <a:extLst xmlns:a="http://schemas.openxmlformats.org/drawingml/2006/main">
              <a:ext uri="{FF2B5EF4-FFF2-40B4-BE49-F238E27FC236}">
                <a16:creationId xmlns:a16="http://schemas.microsoft.com/office/drawing/2014/main" id="{66C9DB05-B37F-4493-BF8C-7799C77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33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Contract change? Update the server DTO, the REST document, the client model and tests together.</a:t>
            </a:r>
          </a:p>
        </p:txBody>
      </p:sp>
    </p:spTree>
    <p:extLst>
      <p:ext uri="{BB962C8B-B14F-4D97-AF65-F5344CB8AC3E}">
        <p14:creationId xmlns:p14="http://schemas.microsoft.com/office/powerpoint/2010/main" val="14277508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2-38">
            <a:extLst xmlns:a="http://schemas.openxmlformats.org/drawingml/2006/main">
              <a:ext uri="{FF2B5EF4-FFF2-40B4-BE49-F238E27FC236}">
                <a16:creationId xmlns:a16="http://schemas.microsoft.com/office/drawing/2014/main" id="{1CCCB9FC-29D2-45DD-8926-2E36AF72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F7DAF3B1-F2FE-48A5-914B-F0BFD136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One API client owns networking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4A93802C-1D21-4ABF-87A0-CDDAD75A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76F7F589-22B4-48CF-B2C7-171F950D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text-72-195">
            <a:extLst xmlns:a="http://schemas.openxmlformats.org/drawingml/2006/main">
              <a:ext uri="{FF2B5EF4-FFF2-40B4-BE49-F238E27FC236}">
                <a16:creationId xmlns:a16="http://schemas.microsoft.com/office/drawing/2014/main" id="{173EA6F4-1D6F-41B3-A6CA-2B3BF91E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98107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646"/>
          </a:solidFill>
          <a:ln xmlns:a="http://schemas.openxmlformats.org/drawingml/2006/main" w="9525">
            <a:solidFill>
              <a:srgbClr val="315078"/>
            </a:solidFill>
            <a:prstDash val="solid"/>
          </a:ln>
        </p:spPr>
        <p:txBody>
          <a:bodyPr xmlns:a="http://schemas.openxmlformats.org/drawingml/2006/main" wrap="square" lIns="209550" tIns="209550" rIns="209550" bIns="2095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// Illustrative Swift; validate(...) is app-defined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func login(_ input: LoginRequest) async throws -&gt; LoginResponse {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url = baseURL.appending(path: "api/v1/auth/login")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var request = URLRequest(url: url)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request.httpMethod = "POST"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request.httpBody = try encoder.encode(input)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request.setValue("application/json", forHTTPHeaderField: "Content-Type")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let (data, response) = try await session.data(for: request)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try validate(response, data)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    return try decoder.decode(LoginResponse.self, from: data)</a:t>
            </a:r>
          </a:p>
          <a:p xmlns:a="http://schemas.openxmlformats.org/drawingml/2006/main">
            <a:pPr algn="l">
              <a:defRPr sz="1500" b="0">
                <a:solidFill>
                  <a:srgbClr val="C9D6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C9D6EC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6" name="text-72-627">
            <a:extLst xmlns:a="http://schemas.openxmlformats.org/drawingml/2006/main">
              <a:ext uri="{FF2B5EF4-FFF2-40B4-BE49-F238E27FC236}">
                <a16:creationId xmlns:a16="http://schemas.microsoft.com/office/drawing/2014/main" id="{0BD31CB9-CD60-463D-A7FD-95DA1939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Inject URLSession and the base URL. Test 200, 401, 429 and transport failure.</a:t>
            </a:r>
          </a:p>
        </p:txBody>
      </p:sp>
    </p:spTree>
    <p:extLst>
      <p:ext uri="{BB962C8B-B14F-4D97-AF65-F5344CB8AC3E}">
        <p14:creationId xmlns:p14="http://schemas.microsoft.com/office/powerpoint/2010/main" val="218806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2-38">
            <a:extLst xmlns:a="http://schemas.openxmlformats.org/drawingml/2006/main">
              <a:ext uri="{FF2B5EF4-FFF2-40B4-BE49-F238E27FC236}">
                <a16:creationId xmlns:a16="http://schemas.microsoft.com/office/drawing/2014/main" id="{5B718727-7D62-4964-B70D-66C725B2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D1F655E3-9455-4CD6-BAB3-673EBE5F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Session state across app launches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86277997-C0F6-471E-8ED8-7918A3D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53EB5B1B-8817-43F9-B4C9-0F2C72C7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text-76-200">
            <a:extLst xmlns:a="http://schemas.openxmlformats.org/drawingml/2006/main">
              <a:ext uri="{FF2B5EF4-FFF2-40B4-BE49-F238E27FC236}">
                <a16:creationId xmlns:a16="http://schemas.microsoft.com/office/drawing/2014/main" id="{7D609C85-EF7D-4F9C-98D5-FB0EC750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SIGN IN</a:t>
            </a:r>
          </a:p>
        </p:txBody>
      </p:sp>
      <p:sp>
        <p:nvSpPr>
          <p:cNvPr id="6" name="text-275-200">
            <a:extLst xmlns:a="http://schemas.openxmlformats.org/drawingml/2006/main">
              <a:ext uri="{FF2B5EF4-FFF2-40B4-BE49-F238E27FC236}">
                <a16:creationId xmlns:a16="http://schemas.microsoft.com/office/drawing/2014/main" id="{EF294444-6315-4372-AF37-69BC8025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0500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POST /auth/login</a:t>
            </a:r>
          </a:p>
        </p:txBody>
      </p:sp>
      <p:sp>
        <p:nvSpPr>
          <p:cNvPr id="7" name="text-666-200">
            <a:extLst xmlns:a="http://schemas.openxmlformats.org/drawingml/2006/main">
              <a:ext uri="{FF2B5EF4-FFF2-40B4-BE49-F238E27FC236}">
                <a16:creationId xmlns:a16="http://schemas.microsoft.com/office/drawing/2014/main" id="{FE7637AC-9140-4EB9-9329-E8D69D12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Save accessToken in Keychain</a:t>
            </a:r>
          </a:p>
        </p:txBody>
      </p:sp>
      <p:sp>
        <p:nvSpPr>
          <p:cNvPr id="8" name="text-76-293">
            <a:extLst xmlns:a="http://schemas.openxmlformats.org/drawingml/2006/main">
              <a:ext uri="{FF2B5EF4-FFF2-40B4-BE49-F238E27FC236}">
                <a16:creationId xmlns:a16="http://schemas.microsoft.com/office/drawing/2014/main" id="{EB167CC3-D6F1-46E5-AB9B-E9A80644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REOPEN</a:t>
            </a:r>
          </a:p>
        </p:txBody>
      </p:sp>
      <p:sp>
        <p:nvSpPr>
          <p:cNvPr id="9" name="text-275-293">
            <a:extLst xmlns:a="http://schemas.openxmlformats.org/drawingml/2006/main">
              <a:ext uri="{FF2B5EF4-FFF2-40B4-BE49-F238E27FC236}">
                <a16:creationId xmlns:a16="http://schemas.microsoft.com/office/drawing/2014/main" id="{5FEB8120-30AA-4CC6-8CDD-420F169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9082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Read Keychain token</a:t>
            </a:r>
          </a:p>
        </p:txBody>
      </p:sp>
      <p:sp>
        <p:nvSpPr>
          <p:cNvPr id="10" name="text-666-293">
            <a:extLst xmlns:a="http://schemas.openxmlformats.org/drawingml/2006/main">
              <a:ext uri="{FF2B5EF4-FFF2-40B4-BE49-F238E27FC236}">
                <a16:creationId xmlns:a16="http://schemas.microsoft.com/office/drawing/2014/main" id="{E7DC0765-A574-46E5-A23D-30ED105A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9082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GET /auth/me to refresh profile</a:t>
            </a:r>
          </a:p>
        </p:txBody>
      </p:sp>
      <p:sp>
        <p:nvSpPr>
          <p:cNvPr id="11" name="text-76-386">
            <a:extLst xmlns:a="http://schemas.openxmlformats.org/drawingml/2006/main">
              <a:ext uri="{FF2B5EF4-FFF2-40B4-BE49-F238E27FC236}">
                <a16:creationId xmlns:a16="http://schemas.microsoft.com/office/drawing/2014/main" id="{FD7A9B1F-CA6F-4BA0-89E3-59F1449B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401</a:t>
            </a:r>
          </a:p>
        </p:txBody>
      </p:sp>
      <p:sp>
        <p:nvSpPr>
          <p:cNvPr id="12" name="text-275-386">
            <a:extLst xmlns:a="http://schemas.openxmlformats.org/drawingml/2006/main">
              <a:ext uri="{FF2B5EF4-FFF2-40B4-BE49-F238E27FC236}">
                <a16:creationId xmlns:a16="http://schemas.microsoft.com/office/drawing/2014/main" id="{1D385ADD-EACF-4C98-ADE6-12676FF6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76650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Token invalid or expired</a:t>
            </a:r>
          </a:p>
        </p:txBody>
      </p:sp>
      <p:sp>
        <p:nvSpPr>
          <p:cNvPr id="13" name="text-666-386">
            <a:extLst xmlns:a="http://schemas.openxmlformats.org/drawingml/2006/main">
              <a:ext uri="{FF2B5EF4-FFF2-40B4-BE49-F238E27FC236}">
                <a16:creationId xmlns:a16="http://schemas.microsoft.com/office/drawing/2014/main" id="{0F591DA4-E062-4BC1-B1D1-C73BF4B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Delete local token; show sign-in</a:t>
            </a:r>
          </a:p>
        </p:txBody>
      </p:sp>
      <p:sp>
        <p:nvSpPr>
          <p:cNvPr id="14" name="text-76-479">
            <a:extLst xmlns:a="http://schemas.openxmlformats.org/drawingml/2006/main">
              <a:ext uri="{FF2B5EF4-FFF2-40B4-BE49-F238E27FC236}">
                <a16:creationId xmlns:a16="http://schemas.microsoft.com/office/drawing/2014/main" id="{4983F3E7-146E-46AF-B422-3A3B0817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809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SIGN OUT</a:t>
            </a:r>
          </a:p>
        </p:txBody>
      </p:sp>
      <p:sp>
        <p:nvSpPr>
          <p:cNvPr id="15" name="text-275-479">
            <a:extLst xmlns:a="http://schemas.openxmlformats.org/drawingml/2006/main">
              <a:ext uri="{FF2B5EF4-FFF2-40B4-BE49-F238E27FC236}">
                <a16:creationId xmlns:a16="http://schemas.microsoft.com/office/drawing/2014/main" id="{46976196-70FE-4EC5-830C-AFAF3FD6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624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User chooses logout</a:t>
            </a:r>
          </a:p>
        </p:txBody>
      </p:sp>
      <p:sp>
        <p:nvSpPr>
          <p:cNvPr id="16" name="text-666-479">
            <a:extLst xmlns:a="http://schemas.openxmlformats.org/drawingml/2006/main">
              <a:ext uri="{FF2B5EF4-FFF2-40B4-BE49-F238E27FC236}">
                <a16:creationId xmlns:a16="http://schemas.microsoft.com/office/drawing/2014/main" id="{F557DD48-2D17-473F-B973-28A3CE35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62475"/>
            <a:ext cx="5095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Delete local token</a:t>
            </a:r>
          </a:p>
        </p:txBody>
      </p:sp>
      <p:sp>
        <p:nvSpPr>
          <p:cNvPr id="17" name="text-76-600">
            <a:extLst xmlns:a="http://schemas.openxmlformats.org/drawingml/2006/main">
              <a:ext uri="{FF2B5EF4-FFF2-40B4-BE49-F238E27FC236}">
                <a16:creationId xmlns:a16="http://schemas.microsoft.com/office/drawing/2014/main" id="{53A5228B-D07F-4497-A539-F1A229B2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No refresh token in P0. Losing the network does not cancel an operation already authorised by Spring.</a:t>
            </a:r>
          </a:p>
        </p:txBody>
      </p:sp>
    </p:spTree>
    <p:extLst>
      <p:ext uri="{BB962C8B-B14F-4D97-AF65-F5344CB8AC3E}">
        <p14:creationId xmlns:p14="http://schemas.microsoft.com/office/powerpoint/2010/main" val="7834114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72-38">
            <a:extLst xmlns:a="http://schemas.openxmlformats.org/drawingml/2006/main">
              <a:ext uri="{FF2B5EF4-FFF2-40B4-BE49-F238E27FC236}">
                <a16:creationId xmlns:a16="http://schemas.microsoft.com/office/drawing/2014/main" id="{84B13F4E-8045-4883-90AC-C23E031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9C7EDC81-83E0-404D-8E56-B6A54DBB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Sign-in UI as explicit states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507E8EC5-E039-42BE-B081-4CF45F1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FFFE0233-A01D-42E9-B0E3-45E23131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text-73-200">
            <a:extLst xmlns:a="http://schemas.openxmlformats.org/drawingml/2006/main">
              <a:ext uri="{FF2B5EF4-FFF2-40B4-BE49-F238E27FC236}">
                <a16:creationId xmlns:a16="http://schemas.microsoft.com/office/drawing/2014/main" id="{E3F9D458-7652-435C-A133-F0FC795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050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A2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B7A2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text-150-200">
            <a:extLst xmlns:a="http://schemas.openxmlformats.org/drawingml/2006/main">
              <a:ext uri="{FF2B5EF4-FFF2-40B4-BE49-F238E27FC236}">
                <a16:creationId xmlns:a16="http://schemas.microsoft.com/office/drawing/2014/main" id="{8A22A333-6766-49EC-9947-82847D9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05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Idle</a:t>
            </a:r>
          </a:p>
        </p:txBody>
      </p:sp>
      <p:sp>
        <p:nvSpPr>
          <p:cNvPr id="7" name="text-497-200">
            <a:extLst xmlns:a="http://schemas.openxmlformats.org/drawingml/2006/main">
              <a:ext uri="{FF2B5EF4-FFF2-40B4-BE49-F238E27FC236}">
                <a16:creationId xmlns:a16="http://schemas.microsoft.com/office/drawing/2014/main" id="{00BC0AAC-3460-4E75-8099-E013AEF6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9050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Form accepts email and password</a:t>
            </a:r>
          </a:p>
        </p:txBody>
      </p:sp>
      <p:sp>
        <p:nvSpPr>
          <p:cNvPr id="8" name="text-73-296">
            <a:extLst xmlns:a="http://schemas.openxmlformats.org/drawingml/2006/main">
              <a:ext uri="{FF2B5EF4-FFF2-40B4-BE49-F238E27FC236}">
                <a16:creationId xmlns:a16="http://schemas.microsoft.com/office/drawing/2014/main" id="{921F1A15-EE59-4D9A-A1C7-6956DF43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194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A2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B7A2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text-150-296">
            <a:extLst xmlns:a="http://schemas.openxmlformats.org/drawingml/2006/main">
              <a:ext uri="{FF2B5EF4-FFF2-40B4-BE49-F238E27FC236}">
                <a16:creationId xmlns:a16="http://schemas.microsoft.com/office/drawing/2014/main" id="{15E8041B-D48D-4640-AE16-03DFCEE4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19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Submitting</a:t>
            </a:r>
          </a:p>
        </p:txBody>
      </p:sp>
      <p:sp>
        <p:nvSpPr>
          <p:cNvPr id="10" name="text-497-296">
            <a:extLst xmlns:a="http://schemas.openxmlformats.org/drawingml/2006/main">
              <a:ext uri="{FF2B5EF4-FFF2-40B4-BE49-F238E27FC236}">
                <a16:creationId xmlns:a16="http://schemas.microsoft.com/office/drawing/2014/main" id="{21E08619-64DD-4F0B-A653-39361D4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194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Disable duplicate action; show progress</a:t>
            </a:r>
          </a:p>
        </p:txBody>
      </p:sp>
      <p:sp>
        <p:nvSpPr>
          <p:cNvPr id="11" name="text-73-392">
            <a:extLst xmlns:a="http://schemas.openxmlformats.org/drawingml/2006/main">
              <a:ext uri="{FF2B5EF4-FFF2-40B4-BE49-F238E27FC236}">
                <a16:creationId xmlns:a16="http://schemas.microsoft.com/office/drawing/2014/main" id="{61A082BC-8DD8-4F7D-8757-A005BD9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7338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A2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B7A2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text-150-392">
            <a:extLst xmlns:a="http://schemas.openxmlformats.org/drawingml/2006/main">
              <a:ext uri="{FF2B5EF4-FFF2-40B4-BE49-F238E27FC236}">
                <a16:creationId xmlns:a16="http://schemas.microsoft.com/office/drawing/2014/main" id="{67648A15-CA62-46F0-9594-EFED3593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33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Rejected</a:t>
            </a:r>
          </a:p>
        </p:txBody>
      </p:sp>
      <p:sp>
        <p:nvSpPr>
          <p:cNvPr id="13" name="text-497-392">
            <a:extLst xmlns:a="http://schemas.openxmlformats.org/drawingml/2006/main">
              <a:ext uri="{FF2B5EF4-FFF2-40B4-BE49-F238E27FC236}">
                <a16:creationId xmlns:a16="http://schemas.microsoft.com/office/drawing/2014/main" id="{607A6E1E-ADE8-416C-83ED-E7933120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7338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Show a stable error, retain entered email</a:t>
            </a:r>
          </a:p>
        </p:txBody>
      </p:sp>
      <p:sp>
        <p:nvSpPr>
          <p:cNvPr id="14" name="text-73-488">
            <a:extLst xmlns:a="http://schemas.openxmlformats.org/drawingml/2006/main">
              <a:ext uri="{FF2B5EF4-FFF2-40B4-BE49-F238E27FC236}">
                <a16:creationId xmlns:a16="http://schemas.microsoft.com/office/drawing/2014/main" id="{EF530DFD-7F79-43E5-9853-D016DA18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7A2FF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B7A2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text-150-488">
            <a:extLst xmlns:a="http://schemas.openxmlformats.org/drawingml/2006/main">
              <a:ext uri="{FF2B5EF4-FFF2-40B4-BE49-F238E27FC236}">
                <a16:creationId xmlns:a16="http://schemas.microsoft.com/office/drawing/2014/main" id="{1E605D58-8292-45EF-BFD1-1249FA39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Authenticated</a:t>
            </a:r>
          </a:p>
        </p:txBody>
      </p:sp>
      <p:sp>
        <p:nvSpPr>
          <p:cNvPr id="16" name="text-497-488">
            <a:extLst xmlns:a="http://schemas.openxmlformats.org/drawingml/2006/main">
              <a:ext uri="{FF2B5EF4-FFF2-40B4-BE49-F238E27FC236}">
                <a16:creationId xmlns:a16="http://schemas.microsoft.com/office/drawing/2014/main" id="{4C0E68EF-A52A-485A-948D-5168CB24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648200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Show technician navigation after the server profile</a:t>
            </a:r>
          </a:p>
        </p:txBody>
      </p:sp>
      <p:sp>
        <p:nvSpPr>
          <p:cNvPr id="17" name="text-73-608">
            <a:extLst xmlns:a="http://schemas.openxmlformats.org/drawingml/2006/main">
              <a:ext uri="{FF2B5EF4-FFF2-40B4-BE49-F238E27FC236}">
                <a16:creationId xmlns:a16="http://schemas.microsoft.com/office/drawing/2014/main" id="{494994EA-9126-4600-A05E-0831E3D3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912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Use native text controls, Dynamic Type and VoiceOver labels. Glass belongs around the flow, never over critical text.</a:t>
            </a:r>
          </a:p>
        </p:txBody>
      </p:sp>
    </p:spTree>
    <p:extLst>
      <p:ext uri="{BB962C8B-B14F-4D97-AF65-F5344CB8AC3E}">
        <p14:creationId xmlns:p14="http://schemas.microsoft.com/office/powerpoint/2010/main" val="1405028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2-38">
            <a:extLst xmlns:a="http://schemas.openxmlformats.org/drawingml/2006/main">
              <a:ext uri="{FF2B5EF4-FFF2-40B4-BE49-F238E27FC236}">
                <a16:creationId xmlns:a16="http://schemas.microsoft.com/office/drawing/2014/main" id="{E28D108B-1620-49C8-A651-EA3FF01D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AEGIS MOBILE / LEARNING SERIES</a:t>
            </a:r>
          </a:p>
        </p:txBody>
      </p:sp>
      <p:sp>
        <p:nvSpPr>
          <p:cNvPr id="2" name="text-72-85">
            <a:extLst xmlns:a="http://schemas.openxmlformats.org/drawingml/2006/main">
              <a:ext uri="{FF2B5EF4-FFF2-40B4-BE49-F238E27FC236}">
                <a16:creationId xmlns:a16="http://schemas.microsoft.com/office/drawing/2014/main" id="{2C844ED5-AE71-4EC6-842B-F5BF6233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9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The first iOS slice</a:t>
            </a:r>
          </a:p>
        </p:txBody>
      </p:sp>
      <p:sp>
        <p:nvSpPr>
          <p:cNvPr id="3" name="text-72-672">
            <a:extLst xmlns:a="http://schemas.openxmlformats.org/drawingml/2006/main">
              <a:ext uri="{FF2B5EF4-FFF2-40B4-BE49-F238E27FC236}">
                <a16:creationId xmlns:a16="http://schemas.microsoft.com/office/drawing/2014/main" id="{B8363D19-AEFF-4F71-A9E0-B9AA0F8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AEGIS  /  30 SEP 2026</a:t>
            </a:r>
          </a:p>
        </p:txBody>
      </p:sp>
      <p:sp>
        <p:nvSpPr>
          <p:cNvPr id="4" name="text-1160-672">
            <a:extLst xmlns:a="http://schemas.openxmlformats.org/drawingml/2006/main">
              <a:ext uri="{FF2B5EF4-FFF2-40B4-BE49-F238E27FC236}">
                <a16:creationId xmlns:a16="http://schemas.microsoft.com/office/drawing/2014/main" id="{2499C2BE-37BF-475C-9141-3433C58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3A7C8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text-72-195">
            <a:extLst xmlns:a="http://schemas.openxmlformats.org/drawingml/2006/main">
              <a:ext uri="{FF2B5EF4-FFF2-40B4-BE49-F238E27FC236}">
                <a16:creationId xmlns:a16="http://schemas.microsoft.com/office/drawing/2014/main" id="{D91DFA0B-3E3E-4E36-8F97-84FF848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82B7FF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6" name="text-72-248">
            <a:extLst xmlns:a="http://schemas.openxmlformats.org/drawingml/2006/main">
              <a:ext uri="{FF2B5EF4-FFF2-40B4-BE49-F238E27FC236}">
                <a16:creationId xmlns:a16="http://schemas.microsoft.com/office/drawing/2014/main" id="{D75FA39C-92FC-4414-8601-33BD8FB8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95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One SwiftUI login view, an injected API client, Codable DTOs and a small Keychain adapter.</a:t>
            </a:r>
          </a:p>
        </p:txBody>
      </p:sp>
      <p:sp>
        <p:nvSpPr>
          <p:cNvPr id="7" name="text-662-195">
            <a:extLst xmlns:a="http://schemas.openxmlformats.org/drawingml/2006/main">
              <a:ext uri="{FF2B5EF4-FFF2-40B4-BE49-F238E27FC236}">
                <a16:creationId xmlns:a16="http://schemas.microsoft.com/office/drawing/2014/main" id="{DFFB71B9-9265-4A7B-AFF3-0052932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5737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B7A2FF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8" name="text-662-248">
            <a:extLst xmlns:a="http://schemas.openxmlformats.org/drawingml/2006/main">
              <a:ext uri="{FF2B5EF4-FFF2-40B4-BE49-F238E27FC236}">
                <a16:creationId xmlns:a16="http://schemas.microsoft.com/office/drawing/2014/main" id="{28F257DD-1748-4B42-981F-CA01FBF4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50958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6F9FF"/>
                </a:solidFill>
                <a:latin typeface="Helvetica Neue"/>
                <a:ea typeface="Helvetica Neue"/>
                <a:cs typeface="Helvetica Neue"/>
              </a:rPr>
              <a:t>A real iPhone signs in, relaunches into /auth/me, rejects a wrong-role account and recovers from 401 or network loss.</a:t>
            </a:r>
          </a:p>
        </p:txBody>
      </p:sp>
      <p:sp>
        <p:nvSpPr>
          <p:cNvPr id="9" name="text-72-500">
            <a:extLst xmlns:a="http://schemas.openxmlformats.org/drawingml/2006/main">
              <a:ext uri="{FF2B5EF4-FFF2-40B4-BE49-F238E27FC236}">
                <a16:creationId xmlns:a16="http://schemas.microsoft.com/office/drawing/2014/main" id="{0D85DD68-A7D9-4775-9C4B-4EEAA538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80DA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80DACA"/>
                </a:solidFill>
                <a:latin typeface="Helvetica Neue"/>
                <a:ea typeface="Helvetica Neue"/>
                <a:cs typeface="Helvetica Neue"/>
              </a:rPr>
              <a:t>Next lesson</a:t>
            </a:r>
          </a:p>
        </p:txBody>
      </p:sp>
      <p:sp>
        <p:nvSpPr>
          <p:cNvPr id="10" name="text-72-558">
            <a:extLst xmlns:a="http://schemas.openxmlformats.org/drawingml/2006/main">
              <a:ext uri="{FF2B5EF4-FFF2-40B4-BE49-F238E27FC236}">
                <a16:creationId xmlns:a16="http://schemas.microsoft.com/office/drawing/2014/main" id="{7D00AD30-0A1F-43D2-BD6C-B79D1A4E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287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9D6EC"/>
                </a:solidFill>
                <a:latin typeface="Helvetica Neue"/>
                <a:ea typeface="Helvetica Neue"/>
                <a:cs typeface="Helvetica Neue"/>
              </a:rPr>
              <a:t>Catalogue + personal readiness. The app displays the backend decision; it never calculates READY locally.</a:t>
            </a:r>
          </a:p>
        </p:txBody>
      </p:sp>
    </p:spTree>
    <p:extLst>
      <p:ext uri="{BB962C8B-B14F-4D97-AF65-F5344CB8AC3E}">
        <p14:creationId xmlns:p14="http://schemas.microsoft.com/office/powerpoint/2010/main" val="1334170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2026-09-30T23:29:46.0730000Z</dcterms:created>
  <dcterms:modified xsi:type="dcterms:W3CDTF">2026-09-30T23:29:46.0730000Z</dcterms:modified>
</coreProperties>
</file>