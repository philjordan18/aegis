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0ecbfd08a64667" /><Relationship Type="http://schemas.openxmlformats.org/officeDocument/2006/relationships/extended-properties" Target="/docProps/app.xml" Id="R6a12b0fcdba04eda" /><Relationship Type="http://schemas.openxmlformats.org/officeDocument/2006/relationships/officeDocument" Target="/ppt/presentation.xml" Id="Rec9fc9e2d2a349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5be28f45d94ab2"/>
  </p:sldMasterIdLst>
  <p:notesMasterIdLst>
    <p:notesMasterId xmlns:r="http://schemas.openxmlformats.org/officeDocument/2006/relationships" r:id="Rfb4b4352601a4f82"/>
  </p:notesMasterIdLst>
  <p:sldIdLst>
    <p:sldId xmlns:r="http://schemas.openxmlformats.org/officeDocument/2006/relationships" id="256" r:id="R29a778b07f0a4533"/>
    <p:sldId xmlns:r="http://schemas.openxmlformats.org/officeDocument/2006/relationships" id="257" r:id="R5fbb2bfab7e24e5e"/>
    <p:sldId xmlns:r="http://schemas.openxmlformats.org/officeDocument/2006/relationships" id="258" r:id="R57e9e9da894e4377"/>
    <p:sldId xmlns:r="http://schemas.openxmlformats.org/officeDocument/2006/relationships" id="259" r:id="R35996b954ea84700"/>
    <p:sldId xmlns:r="http://schemas.openxmlformats.org/officeDocument/2006/relationships" id="260" r:id="R2dc8ec885e794d2d"/>
    <p:sldId xmlns:r="http://schemas.openxmlformats.org/officeDocument/2006/relationships" id="261" r:id="R087d433c2337416c"/>
    <p:sldId xmlns:r="http://schemas.openxmlformats.org/officeDocument/2006/relationships" id="262" r:id="Rb8224b29ad9141ce"/>
    <p:sldId xmlns:r="http://schemas.openxmlformats.org/officeDocument/2006/relationships" id="263" r:id="Re03df18e259f450e"/>
    <p:sldId xmlns:r="http://schemas.openxmlformats.org/officeDocument/2006/relationships" id="264" r:id="R6046a995e4e54bb0"/>
    <p:sldId xmlns:r="http://schemas.openxmlformats.org/officeDocument/2006/relationships" id="265" r:id="R71ddf68aceb940d9"/>
    <p:sldId xmlns:r="http://schemas.openxmlformats.org/officeDocument/2006/relationships" id="266" r:id="Rb718d87aaa314a1a"/>
    <p:sldId xmlns:r="http://schemas.openxmlformats.org/officeDocument/2006/relationships" id="267" r:id="Rf0532a841b1948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93742bc8f24a77" /><Relationship Type="http://schemas.openxmlformats.org/officeDocument/2006/relationships/slideMaster" Target="/ppt/slideMasters/slideMaster1.xml" Id="R115be28f45d94ab2" /><Relationship Type="http://schemas.openxmlformats.org/officeDocument/2006/relationships/notesMaster" Target="/ppt/notesMasters/notesMaster1.xml" Id="Rfb4b4352601a4f82" /><Relationship Type="http://schemas.openxmlformats.org/officeDocument/2006/relationships/presProps" Target="/ppt/presProps.xml" Id="R67cb0071758e4a9a" /><Relationship Type="http://schemas.openxmlformats.org/officeDocument/2006/relationships/tableStyles" Target="/ppt/tableStyles.xml" Id="Rae8612816c3a4d84" /><Relationship Type="http://schemas.openxmlformats.org/officeDocument/2006/relationships/slide" Target="/ppt/slides/slide1.xml" Id="R29a778b07f0a4533" /><Relationship Type="http://schemas.openxmlformats.org/officeDocument/2006/relationships/slide" Target="/ppt/slides/slide2.xml" Id="R5fbb2bfab7e24e5e" /><Relationship Type="http://schemas.openxmlformats.org/officeDocument/2006/relationships/slide" Target="/ppt/slides/slide3.xml" Id="R57e9e9da894e4377" /><Relationship Type="http://schemas.openxmlformats.org/officeDocument/2006/relationships/slide" Target="/ppt/slides/slide4.xml" Id="R35996b954ea84700" /><Relationship Type="http://schemas.openxmlformats.org/officeDocument/2006/relationships/slide" Target="/ppt/slides/slide5.xml" Id="R2dc8ec885e794d2d" /><Relationship Type="http://schemas.openxmlformats.org/officeDocument/2006/relationships/slide" Target="/ppt/slides/slide6.xml" Id="R087d433c2337416c" /><Relationship Type="http://schemas.openxmlformats.org/officeDocument/2006/relationships/slide" Target="/ppt/slides/slide7.xml" Id="Rb8224b29ad9141ce" /><Relationship Type="http://schemas.openxmlformats.org/officeDocument/2006/relationships/slide" Target="/ppt/slides/slide8.xml" Id="Re03df18e259f450e" /><Relationship Type="http://schemas.openxmlformats.org/officeDocument/2006/relationships/slide" Target="/ppt/slides/slide9.xml" Id="R6046a995e4e54bb0" /><Relationship Type="http://schemas.openxmlformats.org/officeDocument/2006/relationships/slide" Target="/ppt/slides/slide10.xml" Id="R71ddf68aceb940d9" /><Relationship Type="http://schemas.openxmlformats.org/officeDocument/2006/relationships/slide" Target="/ppt/slides/slide11.xml" Id="Rb718d87aaa314a1a" /><Relationship Type="http://schemas.openxmlformats.org/officeDocument/2006/relationships/slide" Target="/ppt/slides/slide12.xml" Id="Rf0532a841b1948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522166e33a43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cffcd1ba924475" /><Relationship Type="http://schemas.openxmlformats.org/officeDocument/2006/relationships/notesMaster" Target="/ppt/notesMasters/notesMaster1.xml" Id="R2ed9f55d1fc346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0ab8c71564402d" /><Relationship Type="http://schemas.openxmlformats.org/officeDocument/2006/relationships/notesMaster" Target="/ppt/notesMasters/notesMaster1.xml" Id="R04b0c3d5a8184b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b627a31ee422d" /><Relationship Type="http://schemas.openxmlformats.org/officeDocument/2006/relationships/notesMaster" Target="/ppt/notesMasters/notesMaster1.xml" Id="R71d88242331943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522a1b1764a74" /><Relationship Type="http://schemas.openxmlformats.org/officeDocument/2006/relationships/notesMaster" Target="/ppt/notesMasters/notesMaster1.xml" Id="R34b38b0c12b047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0ba53728db49d2" /><Relationship Type="http://schemas.openxmlformats.org/officeDocument/2006/relationships/notesMaster" Target="/ppt/notesMasters/notesMaster1.xml" Id="R9a3b90e5a36f46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624c2440174be2" /><Relationship Type="http://schemas.openxmlformats.org/officeDocument/2006/relationships/notesMaster" Target="/ppt/notesMasters/notesMaster1.xml" Id="R7c287be51b5943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70bc1d75204917" /><Relationship Type="http://schemas.openxmlformats.org/officeDocument/2006/relationships/notesMaster" Target="/ppt/notesMasters/notesMaster1.xml" Id="R3813090c09d74d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18298b0fdd4bfb" /><Relationship Type="http://schemas.openxmlformats.org/officeDocument/2006/relationships/notesMaster" Target="/ppt/notesMasters/notesMaster1.xml" Id="R8c2cca2a3a43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fc04cbd3074843" /><Relationship Type="http://schemas.openxmlformats.org/officeDocument/2006/relationships/notesMaster" Target="/ppt/notesMasters/notesMaster1.xml" Id="Rc18838c064fd40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44e356559e42ab" /><Relationship Type="http://schemas.openxmlformats.org/officeDocument/2006/relationships/notesMaster" Target="/ppt/notesMasters/notesMaster1.xml" Id="Rb0867efd5a5b4d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e1ca73894f4f77" /><Relationship Type="http://schemas.openxmlformats.org/officeDocument/2006/relationships/notesMaster" Target="/ppt/notesMasters/notesMaster1.xml" Id="R669b41d753f847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12556d7259402e" /><Relationship Type="http://schemas.openxmlformats.org/officeDocument/2006/relationships/notesMaster" Target="/ppt/notesMasters/notesMaster1.xml" Id="Rc3a61b4846e141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background generated specifically for this Aegis learning deck on 2026-09-30. Repository source: README.md; services/api/README.md. No code is shown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Aegis product and authority: README.md (Architecture; Invariants du P0), AGENTS.md. Spring roles: https://docs.spring.io/spring-boot/reference/using/spring-beans-and-dependency-injection.html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snapshot 2026-09-30: services/api/README.md:3-8, 45-58; services/api/pom.xml:29-61; README.md architecture and execution status. Spring Boot project dependencies are current code; planned features are not endpoints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AegisControlApplication.java:9-19; application.properties:4-10; services/api/src/main/resources/db/migration/V001__create_schema_and_extensions.sql and V002__create_identity_and_catalog.sql. Official: https://docs.spring.io/spring-boot/reference/using/auto-configuration.html ; https://documentation.red-gate.com/flyway/flyway-concepts/migrations/versioned-migrations . Boot lifecycle wording simplified for pedagogy.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exact code from services/api/src/main/java/ca/aegis/control/AegisControlApplication.java:9-19. Official auto-configuration: https://docs.spring.io/spring-boot/reference/using/auto-configuration.html ; bean/DI: https://docs.spring.io/spring-boot/reference/using/spring-beans-and-dependency-injection.html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constructor excerpt: services/api/src/main/java/ca/aegis/control/identity/AccountRepository.java:12-22. Spring DI: https://docs.spring.io/spring-boot/reference/using/spring-beans-and-dependency-injection.html . Diagram is pedagogical, not a literal Spring internal object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AGENTS.md Work protocol and mandatory invariants; services/api/src/main/java/ca/aegis/control/identity/{AuthController.java,AuthenticationService.java,AccountRepository.java}; V002 SQL. Layer diagram is a learning abstraction of the existing IAM slice.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Condensed exact code from services/api/src/main/java/ca/aegis/control/identity/AccountRepository.java:12-37, 64-75. Dependencies: services/api/pom.xml:29-61; no JPA starter or Hibernate mapping. Official JDBC guide: https://docs.spring.io/spring-framework/reference/data-access/jdbc.html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services/api/src/main/resources/db/migration/V001__create_schema_and_extensions.sql; V002__create_identity_and_catalog.sql; services/api/src/main/resources/application.properties:4-10; services/api/README.md:203-207; FlywayMigrationTests.java:49-69. Official: https://documentation.red-gate.com/flyway/flyway-concepts/migrations/versioned-migrations . Applied-migration edit caution is Flyway guidance; planned V003 name is illustrative, not an existing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excerpts from services/api/src/main/resources/db/migration/V002__create_identity_and_catalog.sql:18-22,102-103. Aegis AGENTS.md calls database constraints final invariant guards. This slide is a conceptual concurrency lesson, not a claim that UI code currently implements user creation.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services/api/src/test/java/.../ApiIntegrationTest.java:31-68; AuthenticationApiTests.java:67-98,143-170,345-403; FlywayMigrationTests.java:49-69; services/api/README.md tests/bootstrap. File names/lines from repository code map; not a claim that all future components are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named files exist in services/api/. Guided questions are educational prompts. Official Spring references: https://docs.spring.io/spring-boot/reference/using/auto-configuration.html ; https://docs.spring.io/spring-framework/reference/data-access/jdbc.html ; Flyway: https://documentation.red-gate.com/flyway/flyway-concepts/migrations/versioned-migrations 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71ca756e6143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7f6960c68443ad" /><Relationship Type="http://schemas.openxmlformats.org/officeDocument/2006/relationships/slideLayout" Target="/ppt/slideLayouts/slideLayout1.xml" Id="R31a2e2e0104c4f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a2e2e0104c4f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68ea30e540430a" /><Relationship Type="http://schemas.openxmlformats.org/officeDocument/2006/relationships/image" Target="/ppt/media/image.png" Id="R6230367fd4e744f3" /><Relationship Type="http://schemas.openxmlformats.org/officeDocument/2006/relationships/notesSlide" Target="/ppt/notesSlides/notesSlide1.xml" Id="R4ebfb5bfedc04c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946657791a4ebf" /><Relationship Type="http://schemas.openxmlformats.org/officeDocument/2006/relationships/notesSlide" Target="/ppt/notesSlides/notesSlide2.xml" Id="R5b5d4231c85c46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317cd66824067" /><Relationship Type="http://schemas.openxmlformats.org/officeDocument/2006/relationships/notesSlide" Target="/ppt/notesSlides/notesSlide3.xml" Id="R6e5669660ada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0c0026afe4765" /><Relationship Type="http://schemas.openxmlformats.org/officeDocument/2006/relationships/notesSlide" Target="/ppt/notesSlides/notesSlide4.xml" Id="R00f603abd70f46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4dcc4b25d46fa" /><Relationship Type="http://schemas.openxmlformats.org/officeDocument/2006/relationships/notesSlide" Target="/ppt/notesSlides/notesSlide5.xml" Id="R3280fc1f622e40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c9fc9aafe4a11" /><Relationship Type="http://schemas.openxmlformats.org/officeDocument/2006/relationships/notesSlide" Target="/ppt/notesSlides/notesSlide6.xml" Id="R289faa470b8748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4a15e62fc47ae" /><Relationship Type="http://schemas.openxmlformats.org/officeDocument/2006/relationships/notesSlide" Target="/ppt/notesSlides/notesSlide7.xml" Id="Rc7de883bf12f4d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b71016a33477e" /><Relationship Type="http://schemas.openxmlformats.org/officeDocument/2006/relationships/notesSlide" Target="/ppt/notesSlides/notesSlide8.xml" Id="R28594e1034794e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32e67ac6940e6" /><Relationship Type="http://schemas.openxmlformats.org/officeDocument/2006/relationships/notesSlide" Target="/ppt/notesSlides/notesSlide9.xml" Id="R8413bd03078345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2aad3549a48c4" /><Relationship Type="http://schemas.openxmlformats.org/officeDocument/2006/relationships/notesSlide" Target="/ppt/notesSlides/notesSlide10.xml" Id="Rac087c96b4f24e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3cbbd73ae45a0" /><Relationship Type="http://schemas.openxmlformats.org/officeDocument/2006/relationships/notesSlide" Target="/ppt/notesSlides/notesSlide11.xml" Id="Rc359407566034eb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c4b432f3c9472f" /><Relationship Type="http://schemas.openxmlformats.org/officeDocument/2006/relationships/notesSlide" Target="/ppt/notesSlides/notesSlide12.xml" Id="R3406dbe80e4148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30367fd4e744f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47289-6415-4A2A-9A4D-2E5349D9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>
                <a:solidFill>
                  <a:srgbClr val="D7E6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D7E6FF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EDB81-9D76-4DE5-9E21-765430D9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572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2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42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Spring Boot,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2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42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from zero to Aegis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8A8BC8-6181-4F7C-8977-0F2C0EC7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611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rPr>
              <a:t>A code-first guide to the API, SQL migrations,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D5E4FC"/>
                </a:solidFill>
                <a:latin typeface="Avenir Next"/>
                <a:ea typeface="Avenir Next"/>
                <a:cs typeface="Avenir Next"/>
              </a:rPr>
              <a:t>and the first vertical slice.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4553B-F004-4612-96A1-29902717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547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4A9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A72B5-9A99-47D8-9310-F7C17EFC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6334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>
                <a:solidFill>
                  <a:srgbClr val="BFD1E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BFD1EE"/>
                </a:solidFill>
                <a:latin typeface="Avenir Next"/>
                <a:ea typeface="Avenir Next"/>
                <a:cs typeface="Avenir Next"/>
              </a:rPr>
              <a:t>PHILIPPE + JIMMY  ·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369997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126D86-1A7C-484E-B54C-1958BD17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6B2BF-16E4-4E83-B7EA-50ADBAD2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22F7D-E28B-43DA-A73B-7F10570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27468-16A4-4589-BE0A-CC60319D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MENTAL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8D690A-880D-467B-A052-C4DCD92A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You already know half the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98E09-E875-419B-85EA-CF38BE1B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React describes the interface. Spring owns the server-side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02591-1B3D-4C3D-9818-2FFA8D24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6CAAA-751B-47EA-91F1-DFD54F66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EAAE3-249F-4822-8BEA-02C9CC99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4B889-D1FE-4BF8-B98E-57EC683E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3400425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EE6DD-353D-4965-B437-D5DA13A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908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084E9-8B50-4ED4-A7F5-69A52D9E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React / Next.js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51B5B2-51A4-4DBB-BE02-4F0A1E0DB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28975"/>
            <a:ext cx="29622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Component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State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Fetch call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Rendered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27F5B-6CA7-47E1-92CC-3AA6902B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81275"/>
            <a:ext cx="3400425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7253F-D196-425E-BC3C-CC83D951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908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BF3F8A-F3B3-453A-840D-FAE5746F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813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Spring Boot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156686-0048-4F6C-AED2-8783D7CB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28975"/>
            <a:ext cx="29622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Controller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Service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Repository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HTTP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0DA6FA-E680-4140-975D-6E011F31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81275"/>
            <a:ext cx="3400425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68038-3F0F-4770-88ED-9790152C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7908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012D80-5413-480B-AC43-BB69ECFC0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Aegis rule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F0F41-B2F2-426D-A170-8CDE4A04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28975"/>
            <a:ext cx="29622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The backend decides whether an asset is ready, reservable, and safe to release.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058AAB-4FE0-4D06-AAE0-00FC361A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76875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DDEB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DDEBFF"/>
                </a:solidFill>
                <a:latin typeface="Avenir Next"/>
                <a:ea typeface="Avenir Next"/>
                <a:cs typeface="Avenir Next"/>
              </a:rPr>
              <a:t>UI state can be temporary. Custody and authorization cannot be.</a:t>
            </a:r>
          </a:p>
        </p:txBody>
      </p:sp>
    </p:spTree>
    <p:extLst>
      <p:ext uri="{BB962C8B-B14F-4D97-AF65-F5344CB8AC3E}">
        <p14:creationId xmlns:p14="http://schemas.microsoft.com/office/powerpoint/2010/main" val="12007859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F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1B0680-0F9F-4D22-A84C-9A8F4C3A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49628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9628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9BE68-ACC1-4127-81DC-B2076ADB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49628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9628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A0027-E05E-47CC-9C30-AA74DB8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FE1B7-C819-444C-A332-34429D25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5356B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356BD"/>
                </a:solidFill>
                <a:latin typeface="Avenir Next"/>
                <a:ea typeface="Avenir Next"/>
                <a:cs typeface="Avenir Next"/>
              </a:rPr>
              <a:t>REALITY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6AFB1-B754-47AE-AE60-8FCF8325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What the repository actually contains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C42257-CB37-4839-83E2-C1F09275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47607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7607E"/>
                </a:solidFill>
                <a:latin typeface="Avenir Next"/>
                <a:ea typeface="Avenir Next"/>
                <a:cs typeface="Avenir Next"/>
              </a:rPr>
              <a:t>The architecture is broader than the code that exists today.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BAB7D-09B1-430D-993C-051003C6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1A2AC2-C104-40E8-9D64-F6B0248C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54583-D5A2-4C71-92CF-E538A651A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39A09-8F95-4C1C-B26E-876FCE30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5200650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F9712-4FA9-46BF-94A4-DA8CB189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860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9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65F7A-7354-419B-9829-4A3BDCEA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76525"/>
            <a:ext cx="45815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Running backend slice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6774B-09A9-4254-9870-4C233915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12420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Health · POST /auth/login · GET /auth/me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Java 21 · Spring Boot 4.1.1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JdbcClient · PostgreSQL · Flyway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0F32BD-42BF-4342-BBBE-0E223CBF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5629275" cy="2571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8681F4-ECE9-4935-83CB-D6805362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6860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F87F5-6C47-4699-8FD6-8579C59B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76525"/>
            <a:ext cx="501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Planned, not implemented yet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9E9AD-A0D2-4669-9F13-62B3459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24200"/>
            <a:ext cx="519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Asset catalogue and readiness · reservations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MQTT command flow · loans and returns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Admin workflows · SwiftUI 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92BDF-AA4B-48C7-B4EE-B8AF746F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110775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FE9FB"/>
          </a:solidFill>
          <a:ln xmlns:a="http://schemas.openxmlformats.org/drawingml/2006/main" w="9525">
            <a:solidFill>
              <a:srgbClr val="C6D7F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BEDDA-4840-40AC-B3EB-D270138F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43550"/>
            <a:ext cx="1059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A376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A3761"/>
                </a:solidFill>
                <a:latin typeface="Avenir Next"/>
                <a:ea typeface="Avenir Next"/>
                <a:cs typeface="Avenir Next"/>
              </a:rPr>
              <a:t>This deck teaches existing code first and labels future architecture as future.</a:t>
            </a:r>
          </a:p>
        </p:txBody>
      </p:sp>
    </p:spTree>
    <p:extLst>
      <p:ext uri="{BB962C8B-B14F-4D97-AF65-F5344CB8AC3E}">
        <p14:creationId xmlns:p14="http://schemas.microsoft.com/office/powerpoint/2010/main" val="1316379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24CD9F-2882-4354-9C06-6E30A320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69C2C1-19A0-428B-9E88-2529CD8F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913EE-B5D7-4DD9-A51D-962BC407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80906-32C4-4CF7-B932-0AB5CC006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RUNTIME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D7578-6002-40CE-A29E-217EEC4C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What happens when the API starts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1B5D9-2E16-4042-85B0-E75A03F2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Spring creates the application; Flyway shapes the database before traffic reaches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0D9DE-87B6-4C0C-8337-E8F1519D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6B165-394A-42D5-A0FB-03BF40BB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C85C81-8B3E-49B9-A34A-8AF143B7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B2DA6-DD5A-4BEC-BA21-66417612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25527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E4A7D4-DC5F-4C2B-87C9-443478E8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813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1  CONFIG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4D9E9-B0A3-447A-B2BF-883F675C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099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EE857E-F25F-467A-8B9C-51587833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86175"/>
            <a:ext cx="2152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Read properties and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A0B16-044A-4678-8530-18A51661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5433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02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48403C-B036-4763-AFF9-12E974EC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762250"/>
            <a:ext cx="25527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142545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5711A-BC0A-41C0-AACC-1D2A0697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813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2  MIGRATE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7FC07-E22C-4144-B38D-066D999D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C45B9-372E-4518-8D14-C921C36E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86175"/>
            <a:ext cx="2152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Apply pending versioned 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0A5940-B1B7-4FED-82EC-4D0D73F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33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02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52657D-BC8D-44F1-BE4F-9B8064F3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5527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CFEF0-929E-4889-A94D-6F1B6451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813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3  WIRE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228747-F5F7-4773-B496-051AA77E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4099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47ABA-FDD7-4B72-8518-D749A78B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86175"/>
            <a:ext cx="2152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Construct beans and inject dependencies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0EF226-22E5-4B3B-9E2D-B9FD2D45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543300"/>
            <a:ext cx="23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02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5B8F93-BD11-42DA-BD6D-6043D7F1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762250"/>
            <a:ext cx="2552700" cy="2209800"/>
          </a:xfrm>
          <a:prstGeom xmlns:a="http://schemas.openxmlformats.org/drawingml/2006/main" prst="roundRect">
            <a:avLst>
              <a:gd name="adj" fmla="val 7759"/>
            </a:avLst>
          </a:prstGeom>
          <a:solidFill xmlns:a="http://schemas.openxmlformats.org/drawingml/2006/main">
            <a:srgbClr val="142545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AAED1B-F00C-4789-AB4C-935BAC75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81325"/>
            <a:ext cx="2152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4  SERVE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66AC6E-0DB2-437F-9DA4-B5648E9B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099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CBCFE-8701-4CFA-A316-22009D93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86175"/>
            <a:ext cx="21526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Bind HTTP routes and handle requests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A2DEF0-4CBE-46DD-9555-D52768BA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10200"/>
            <a:ext cx="11087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DDEB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DDEBFF"/>
                </a:solidFill>
                <a:latin typeface="Avenir Next"/>
                <a:ea typeface="Avenir Next"/>
                <a:cs typeface="Avenir Next"/>
              </a:rPr>
              <a:t>Flyway is version control for database changes — not a substitute for SQL.</a:t>
            </a:r>
          </a:p>
        </p:txBody>
      </p:sp>
    </p:spTree>
    <p:extLst>
      <p:ext uri="{BB962C8B-B14F-4D97-AF65-F5344CB8AC3E}">
        <p14:creationId xmlns:p14="http://schemas.microsoft.com/office/powerpoint/2010/main" val="10814136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BF569-73D9-44F5-9B6C-966101AA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9148C-1609-4D79-B685-C7438BAA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C2B3D-7378-41AF-B115-D60A780D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79FF1-B6C8-4679-A862-2B6EEB3B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ENTRY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80E06-449B-4D7D-9FC1-C8733652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Two annotations and one entry 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714E0-51CC-49F5-89D9-E086AB19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A small class can configure a large application because Spring scans and wires the packages below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D4D538-B331-4506-8FE7-22749C65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116D0-BD1E-48B5-A827-DE20FE86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68C97-88E3-4977-8055-5FA15021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8DE88-E5DB-4AE7-96A1-C6C25A04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6162675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1730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B67A7-62B1-4E5D-B113-29D8C139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616267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5895C-1AC9-4CCA-98F6-9D4116C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57435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67D9E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7D9EA"/>
                </a:solidFill>
                <a:latin typeface="Menlo"/>
                <a:ea typeface="Menlo"/>
                <a:cs typeface="Menlo"/>
              </a:rPr>
              <a:t>AEGIS CONTROL APPLICATION · CONDENSED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456FA-5716-4013-A749-77E02A24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48000"/>
            <a:ext cx="5686425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@SpringBootApplication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public class AegisControlApplication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public static void main(String[] args)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  SpringApplication.run(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    AegisControlApplication.class, args);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@Bean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Clock clock()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  return Clock.systemUTC();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4C895-32EB-45C7-94BD-B25EB2FA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57450"/>
            <a:ext cx="4657725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F0537A-0B82-4CF2-86E4-E0A9FC6E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9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76CF31-D017-4687-9FEA-EF534D57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5747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@SpringBootApplication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3A5A4-AC81-47C7-B0DF-57B0DFD4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05150"/>
            <a:ext cx="42195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Entry point for configuration, component scanning, and auto-configuration.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2A841-A1E0-4C33-9D22-65749BA5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14800"/>
            <a:ext cx="4657725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D862F-FDA5-4B49-BE68-5136390A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3243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B90B9-17BB-4E59-BD2C-A5E9188D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14825"/>
            <a:ext cx="403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@Bean Clock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CCB1ED-670D-4A55-8ED8-EE74D010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62500"/>
            <a:ext cx="42195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One reusable UTC time source that Spring can inject into other classes.</a:t>
            </a:r>
          </a:p>
        </p:txBody>
      </p:sp>
    </p:spTree>
    <p:extLst>
      <p:ext uri="{BB962C8B-B14F-4D97-AF65-F5344CB8AC3E}">
        <p14:creationId xmlns:p14="http://schemas.microsoft.com/office/powerpoint/2010/main" val="5703940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69CA9D-D27C-443D-9B8B-612EDADF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F25AF-568E-4887-94B8-7FC75DDD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66AC54-FB5E-4121-AB8E-ECF557FA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7E218-2071-4D85-9BA6-2424B570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DEPENDENCY INJECTION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45EE3-E90B-4402-9F82-7982E29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The container builds the graph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92A96-2035-46D8-945B-D69F5C3A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You declare what a class needs; Spring supplies the dependency.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F4708-616E-4E9E-A01F-22418CCA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4A6F3C-CA22-4240-9A78-323AE928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BEB6D-1F1B-4F2D-AC89-D567B9FC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A17FA-7EA0-47E9-9846-E300ED47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6143625" cy="2695575"/>
          </a:xfrm>
          <a:prstGeom xmlns:a="http://schemas.openxmlformats.org/drawingml/2006/main" prst="roundRect">
            <a:avLst>
              <a:gd name="adj" fmla="val 6360"/>
            </a:avLst>
          </a:prstGeom>
          <a:solidFill xmlns:a="http://schemas.openxmlformats.org/drawingml/2006/main">
            <a:srgbClr val="0C1730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FC614-45BB-475F-B94B-CEF32384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614362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108C6-F424-4E69-9022-E8979883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5724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67D9E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7D9EA"/>
                </a:solidFill>
                <a:latin typeface="Menlo"/>
                <a:ea typeface="Menlo"/>
                <a:cs typeface="Menlo"/>
              </a:rPr>
              <a:t>ACCOUNTREPOSITORY.JAVA · EXACT EXCERPT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C043B-1EFC-4EC5-BD2D-6C514256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48000"/>
            <a:ext cx="5667375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@Repository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class AccountRepository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private final JdbcClient jdbc;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AccountRepository(JdbcClient jdbc) {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  this.jdbc = jdbc;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}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BA49A-45EE-42AE-AA48-2339AADB1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0325"/>
            <a:ext cx="2009775" cy="847725"/>
          </a:xfrm>
          <a:prstGeom xmlns:a="http://schemas.openxmlformats.org/drawingml/2006/main" prst="roundRect">
            <a:avLst>
              <a:gd name="adj" fmla="val 20225"/>
            </a:avLst>
          </a:prstGeom>
          <a:solidFill xmlns:a="http://schemas.openxmlformats.org/drawingml/2006/main">
            <a:srgbClr val="142545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5225C-3B6A-449E-BE98-9EB16C6AC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90825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17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Spring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20D78-EED8-499D-AB33-D5BCC703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600325"/>
            <a:ext cx="2009775" cy="847725"/>
          </a:xfrm>
          <a:prstGeom xmlns:a="http://schemas.openxmlformats.org/drawingml/2006/main" prst="roundRect">
            <a:avLst>
              <a:gd name="adj" fmla="val 20225"/>
            </a:avLst>
          </a:prstGeom>
          <a:solidFill xmlns:a="http://schemas.openxmlformats.org/drawingml/2006/main">
            <a:srgbClr val="142545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FB291-4501-4061-A1F6-B1399811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575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JdbcClient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4C323C-AEC2-4B16-9261-219816F9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29075"/>
            <a:ext cx="2695575" cy="847725"/>
          </a:xfrm>
          <a:prstGeom xmlns:a="http://schemas.openxmlformats.org/drawingml/2006/main" prst="roundRect">
            <a:avLst>
              <a:gd name="adj" fmla="val 20225"/>
            </a:avLst>
          </a:prstGeom>
          <a:solidFill xmlns:a="http://schemas.openxmlformats.org/drawingml/2006/main">
            <a:srgbClr val="142545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A4CBAB-1BBE-42F1-A071-8E383E81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86250"/>
            <a:ext cx="2400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AccountRepository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518B48-5A3A-403F-923C-7165F52E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09875"/>
            <a:ext cx="3524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32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007BA-885E-49B1-9F85-282D0B4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3743325"/>
            <a:ext cx="20097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injected into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90CF2-A4A3-493E-B055-69FAC269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57825"/>
            <a:ext cx="11087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DDEB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DDEBFF"/>
                </a:solidFill>
                <a:latin typeface="Avenir Next"/>
                <a:ea typeface="Avenir Next"/>
                <a:cs typeface="Avenir Next"/>
              </a:rPr>
              <a:t>A bean is an object managed by the Spring container.</a:t>
            </a:r>
          </a:p>
        </p:txBody>
      </p:sp>
    </p:spTree>
    <p:extLst>
      <p:ext uri="{BB962C8B-B14F-4D97-AF65-F5344CB8AC3E}">
        <p14:creationId xmlns:p14="http://schemas.microsoft.com/office/powerpoint/2010/main" val="3911009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B1B7A5-6443-4EA3-B02B-0D34ABCC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3E050-FA35-4CE4-B463-F5FF6BB5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B2743-D49E-41DD-9EC4-517B1101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C1173-B36A-4F22-A3FF-47E48ACD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ECD94-E949-4A17-BF62-BCF0664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One request crosses four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16CA17-D4C0-4116-B31C-58F387C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Keep Aegis business decisions in the service/domain, never in the Web or iOS client.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D7FA2-3CB0-47DE-BCB5-4F06F902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275D92-2D51-4461-9887-E923E853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2DE6B-53C7-4E1F-B0EA-9BCA08D4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6646E8-7B1F-46DC-B6A8-FD148044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562225" cy="1895475"/>
          </a:xfrm>
          <a:prstGeom xmlns:a="http://schemas.openxmlformats.org/drawingml/2006/main" prst="roundRect">
            <a:avLst>
              <a:gd name="adj" fmla="val 9045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B1AC9-CF78-4C30-829E-3683314F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194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67D9EA"/>
                </a:solidFill>
                <a:latin typeface="Avenir Next"/>
                <a:ea typeface="Avenir Next"/>
                <a:cs typeface="Avenir Next"/>
              </a:rPr>
              <a:t>CONTROLLER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552C15-A951-4116-8A29-F365FF20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33775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HTTP, validation, DTOs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5B6DFC-3412-4135-9632-0C3D8F93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419475"/>
            <a:ext cx="23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D17D1-612E-4D04-BF33-8E3FE208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43200"/>
            <a:ext cx="2562225" cy="1895475"/>
          </a:xfrm>
          <a:prstGeom xmlns:a="http://schemas.openxmlformats.org/drawingml/2006/main" prst="roundRect">
            <a:avLst>
              <a:gd name="adj" fmla="val 9045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3E68F-70FF-4986-B6FA-37C5BCF1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194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39B2C-A58C-4433-A493-39AC5BD8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533775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Rules and use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6AD32-F636-4291-B2BA-D7864B4D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419475"/>
            <a:ext cx="23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DA835-12D3-4ACC-8E78-DAD9F234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43200"/>
            <a:ext cx="2562225" cy="1895475"/>
          </a:xfrm>
          <a:prstGeom xmlns:a="http://schemas.openxmlformats.org/drawingml/2006/main" prst="roundRect">
            <a:avLst>
              <a:gd name="adj" fmla="val 9045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D172A4-DFB1-44CB-8AF3-403D3A9B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194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REPOSITORY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BEC34B-746F-4729-ADC6-FEC751EB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33775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Explicit SQL 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53646-1F54-41E9-9016-046ACCC4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419475"/>
            <a:ext cx="238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2175" b="1">
                <a:solidFill>
                  <a:srgbClr val="5CA9FF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5CA9FF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774FBA-BAEC-4E45-B307-865FC94B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43200"/>
            <a:ext cx="2562225" cy="1895475"/>
          </a:xfrm>
          <a:prstGeom xmlns:a="http://schemas.openxmlformats.org/drawingml/2006/main" prst="roundRect">
            <a:avLst>
              <a:gd name="adj" fmla="val 9045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36B61-C0DD-4ED6-AE11-E71E5EDC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019425"/>
            <a:ext cx="217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76E0B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76E0BB"/>
                </a:solidFill>
                <a:latin typeface="Avenir Next"/>
                <a:ea typeface="Avenir Next"/>
                <a:cs typeface="Avenir Next"/>
              </a:rPr>
              <a:t>DATABASE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C1106-5287-4D5D-A5CA-C0404E72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533775"/>
            <a:ext cx="2152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Constraints and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B6ED7C-F71E-4D94-913A-AF5F39AC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DDEB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DDEBFF"/>
                </a:solidFill>
                <a:latin typeface="Avenir Next"/>
                <a:ea typeface="Avenir Next"/>
                <a:cs typeface="Avenir Next"/>
              </a:rPr>
              <a:t>A controller should not become a place to invent readiness or custody rules.</a:t>
            </a:r>
          </a:p>
        </p:txBody>
      </p:sp>
    </p:spTree>
    <p:extLst>
      <p:ext uri="{BB962C8B-B14F-4D97-AF65-F5344CB8AC3E}">
        <p14:creationId xmlns:p14="http://schemas.microsoft.com/office/powerpoint/2010/main" val="782845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F12A2-7776-4462-A3F3-3C6ECFAD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EB6CF1-D14D-45BE-BF31-B19B59F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5215E-FF14-4199-8448-91A6C884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36452-2257-4AC5-BF36-18DA9214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DATA ACCESS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AA4C-25D1-4D5C-A200-136DF4D1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Aegis uses JdbcClient, not JPA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3D697-C23B-434D-8E47-9EDC0069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SQL is visible, parameterized, and mapped to a Java record/class.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6ABBB-76D4-4E78-956B-FF6BC304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E0E895-4F4A-49E7-A8D5-A32B6D2B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381C3-04B4-43B1-B5BE-0BFC0E32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03378-99CB-412F-8812-C753A79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47925"/>
            <a:ext cx="6981825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0C1730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38017-CCBA-47F1-96AA-CC17DF1AB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47925"/>
            <a:ext cx="6981825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D4078F-3D78-4AF7-B4E1-718963C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43175"/>
            <a:ext cx="6562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67D9E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7D9EA"/>
                </a:solidFill>
                <a:latin typeface="Menlo"/>
                <a:ea typeface="Menlo"/>
                <a:cs typeface="Menlo"/>
              </a:rPr>
              <a:t>ACCOUNTREPOSITORY.JAVA · CONDENSED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4A21E-78FE-4ACB-89CD-11E18A33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38475"/>
            <a:ext cx="6505575" cy="2390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return jdbc.sql(SELECT_ACCOUNT +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  "WHERE lower(email) = lower(:email)")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.param("email", normalizedEmail)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.query(AccountRepository::map)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.optional();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92334-DC5A-4BDB-A559-9E8E39EC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47925"/>
            <a:ext cx="3876675" cy="1438275"/>
          </a:xfrm>
          <a:prstGeom xmlns:a="http://schemas.openxmlformats.org/drawingml/2006/main" prst="roundRect">
            <a:avLst>
              <a:gd name="adj" fmla="val 11921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D1603-8BFC-4B82-A27E-3ECA4FE3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5747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6F514-1568-4221-96BE-4B3FE8CF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647950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What :email means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1D85F7-F5EB-465A-97DB-C927B869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5625"/>
            <a:ext cx="34385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A named SQL parameter, supplied separately from the SQL text.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78BA2-982A-413E-AB64-733A947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76700"/>
            <a:ext cx="3876675" cy="1514475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547A4-7B28-40D9-AC9A-B93A2BD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877268-B547-4CDE-8DB3-BE1B26F7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276725"/>
            <a:ext cx="325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What map does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BF9B49-EE50-48C7-A146-F5D1B394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34385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Converts each ResultSet row into an Account domain object.</a:t>
            </a:r>
          </a:p>
        </p:txBody>
      </p:sp>
    </p:spTree>
    <p:extLst>
      <p:ext uri="{BB962C8B-B14F-4D97-AF65-F5344CB8AC3E}">
        <p14:creationId xmlns:p14="http://schemas.microsoft.com/office/powerpoint/2010/main" val="6115653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F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489158-245C-4A91-9F74-EA8D5627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49628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9628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264582-8D18-42AA-BAE6-FA02A417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49628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9628A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DC097-E0E3-4727-9E35-DD94977B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F4BE3-64E0-4C23-BEF2-F7C828B0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5356B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356BD"/>
                </a:solidFill>
                <a:latin typeface="Avenir Next"/>
                <a:ea typeface="Avenir Next"/>
                <a:cs typeface="Avenir Next"/>
              </a:rPr>
              <a:t>SCHEMA EVOLUTION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F74F5-6692-4E57-9CDD-24429022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Flyway gives SQL a version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A4311-46E3-4A5A-BF4B-6C24924E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47607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7607E"/>
                </a:solidFill>
                <a:latin typeface="Avenir Next"/>
                <a:ea typeface="Avenir Next"/>
                <a:cs typeface="Avenir Next"/>
              </a:rPr>
              <a:t>Aegis stores migration scripts in the repository; Flyway applies them in version order.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955A3-8EC6-4E65-B0DF-FC3CB550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FB059-7504-41F8-A7E9-36B4CA0A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AB2B0-EF09-4DCF-AA65-EA15EA84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219B3-2AF0-4538-BAA0-4565F16D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57450"/>
            <a:ext cx="5105400" cy="29718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802D2-213A-43F1-996D-EF0FFCF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6386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>
                <a:solidFill>
                  <a:srgbClr val="5F76A0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5F76A0"/>
                </a:solidFill>
                <a:latin typeface="Menlo"/>
                <a:ea typeface="Menlo"/>
                <a:cs typeface="Menlo"/>
              </a:rPr>
              <a:t>services/api/src/main/resources/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BE28E-EC0E-4ED1-9AFC-FA103F37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>
                <a:solidFill>
                  <a:srgbClr val="09152A"/>
                </a:solidFill>
                <a:latin typeface="Menlo"/>
                <a:ea typeface="Menlo"/>
                <a:cs typeface="Menlo"/>
              </a:defRPr>
            </a:pPr>
            <a:r>
              <a:rPr sz="1800" b="1">
                <a:solidFill>
                  <a:srgbClr val="09152A"/>
                </a:solidFill>
                <a:latin typeface="Menlo"/>
                <a:ea typeface="Menlo"/>
                <a:cs typeface="Menlo"/>
              </a:rPr>
              <a:t>db/migration/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279CF-6F22-4F87-AB7D-E0721134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14725"/>
            <a:ext cx="458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E2F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8F46B-81D9-489F-A8D7-7BAD494C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305FA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05FA9"/>
                </a:solidFill>
                <a:latin typeface="Menlo"/>
                <a:ea typeface="Menlo"/>
                <a:cs typeface="Menlo"/>
              </a:rPr>
              <a:t>V001__create_schema_and_extensions.sql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481E6-EFED-4678-9D96-4A0F72D7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62425"/>
            <a:ext cx="4638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>
                <a:solidFill>
                  <a:srgbClr val="305FA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305FA9"/>
                </a:solidFill>
                <a:latin typeface="Menlo"/>
                <a:ea typeface="Menlo"/>
                <a:cs typeface="Menlo"/>
              </a:rPr>
              <a:t>V002__create_identity_and_catalog.sql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C616E9-FD54-483E-83EA-7CECF385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4638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>
                <a:solidFill>
                  <a:srgbClr val="547195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547195"/>
                </a:solidFill>
                <a:latin typeface="Menlo"/>
                <a:ea typeface="Menlo"/>
                <a:cs typeface="Menlo"/>
              </a:rPr>
              <a:t>Add the next version; do not rewrite V002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F161C2-0CBE-484B-BBAE-CB76A2F5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57450"/>
            <a:ext cx="5705475" cy="1362075"/>
          </a:xfrm>
          <a:prstGeom xmlns:a="http://schemas.openxmlformats.org/drawingml/2006/main" prst="roundRect">
            <a:avLst>
              <a:gd name="adj" fmla="val 12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4095C-C42D-4028-9162-34883E23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9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4344DA-106B-43FC-87A2-05004B62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57475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1  Versioned files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C85DFE-DB08-463F-88B7-8F088CB1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05150"/>
            <a:ext cx="52673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Every database change has a numbered SQL file.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1C1A1-9472-4E11-856E-E539534A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990975"/>
            <a:ext cx="5705475" cy="1438275"/>
          </a:xfrm>
          <a:prstGeom xmlns:a="http://schemas.openxmlformats.org/drawingml/2006/main" prst="roundRect">
            <a:avLst>
              <a:gd name="adj" fmla="val 119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D29FC6-219C-428E-A404-F9B144EE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005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D9B00B-8DCB-43A9-B63C-A95AD020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910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2  History 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1F068-3206-4B3C-A47C-A4405E0F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38675"/>
            <a:ext cx="52673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Flyway records applied versions and checksums to prevent drift.</a:t>
            </a:r>
          </a:p>
        </p:txBody>
      </p:sp>
    </p:spTree>
    <p:extLst>
      <p:ext uri="{BB962C8B-B14F-4D97-AF65-F5344CB8AC3E}">
        <p14:creationId xmlns:p14="http://schemas.microsoft.com/office/powerpoint/2010/main" val="1486223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87384C-0943-4089-8BEE-1DB17BAC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96402-91D2-4CC2-A2C2-90818677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1546A-B39C-420F-AFA8-5E2DD69E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896D64-9C8A-494A-A9FF-2E778E14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INTEGRITY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8B788-A26F-481B-8CD6-AC2D94DB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The database is the final guardrail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4DA14-47B9-4653-8818-FB56DC73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A UI check is helpful. A PostgreSQL constraint still protects the data under concurrency.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7DEB83-A9DA-4245-9B95-BBA980F7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A8AA39-5F7F-4659-B38F-35E0C95F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29CBBC-8ABA-498A-A358-20C6BFA6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9A20A-FBD7-4877-A54F-31038647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6877050" cy="2981325"/>
          </a:xfrm>
          <a:prstGeom xmlns:a="http://schemas.openxmlformats.org/drawingml/2006/main" prst="roundRect">
            <a:avLst>
              <a:gd name="adj" fmla="val 5751"/>
            </a:avLst>
          </a:prstGeom>
          <a:solidFill xmlns:a="http://schemas.openxmlformats.org/drawingml/2006/main">
            <a:srgbClr val="0C1730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CBF44-B508-4F74-B16C-F6836D46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68770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152748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948479-A7C3-45F5-8B58-E73B8566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6457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>
                <a:solidFill>
                  <a:srgbClr val="67D9EA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7D9EA"/>
                </a:solidFill>
                <a:latin typeface="Menlo"/>
                <a:ea typeface="Menlo"/>
                <a:cs typeface="Menlo"/>
              </a:rPr>
              <a:t>V002 SQL · EXACT EXCERPTS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8B995D-EEBB-4CA1-AF0C-C40321A3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90850"/>
            <a:ext cx="640080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CONSTRAINT ck_users_role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CHECK (role IN ('ADMIN', 'TECHNICIAN')),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CREATE UNIQUE INDEX ux_users_email_ci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FEA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DFEAFF"/>
                </a:solidFill>
                <a:latin typeface="Menlo"/>
                <a:ea typeface="Menlo"/>
                <a:cs typeface="Menlo"/>
              </a:rPr>
              <a:t>  ON aegis.users (lower(email));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AAF40-2F04-4541-A95A-91835885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00300"/>
            <a:ext cx="3905250" cy="1371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784DCB-6198-437C-BA6D-6BB3B664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098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78B1A8-E02C-4D08-BD1C-F932D7EF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00325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CHECK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B8C04-E79E-466D-9A7A-9FA01509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Rejects an unsupported role value at write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A6AAF-C36F-4717-A994-644AC237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952875"/>
            <a:ext cx="390525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D3137A-B2A8-48EB-99D3-C835FD3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624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0B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A6D898-E0BC-4E06-9315-6D2E0EF3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UNIQUE INDEX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81B2D4-D1B0-43BE-9360-40B6A719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00575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Prevents two accounts with the same email ignoring case.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68491-5985-4BA1-A2F2-0C225E98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911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DDEB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DDEBFF"/>
                </a:solidFill>
                <a:latin typeface="Avenir Next"/>
                <a:ea typeface="Avenir Next"/>
                <a:cs typeface="Avenir Next"/>
              </a:rPr>
              <a:t>One invariant can appear in UX, service checks, and the database — each layer has a job.</a:t>
            </a:r>
          </a:p>
        </p:txBody>
      </p:sp>
    </p:spTree>
    <p:extLst>
      <p:ext uri="{BB962C8B-B14F-4D97-AF65-F5344CB8AC3E}">
        <p14:creationId xmlns:p14="http://schemas.microsoft.com/office/powerpoint/2010/main" val="11988692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FF5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800C5-4BB0-4334-9994-88991E69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49628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49628A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793852-8ADA-4A18-872D-426BB8F2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49628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49628A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8625B1-4909-4581-B39F-6B39F2D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BB972-7593-42D8-98DA-01ECFC93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5356BD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5356BD"/>
                </a:solidFill>
                <a:latin typeface="Avenir Next"/>
                <a:ea typeface="Avenir Next"/>
                <a:cs typeface="Avenir Next"/>
              </a:rPr>
              <a:t>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B99EA-FAFB-45F0-8160-DF319332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How do we know it works?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AC2B1-C4FB-4F54-8C82-54AA0CAF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47607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7607E"/>
                </a:solidFill>
                <a:latin typeface="Avenir Next"/>
                <a:ea typeface="Avenir Next"/>
                <a:cs typeface="Avenir Next"/>
              </a:rPr>
              <a:t>Use tests at the boundary where each failure would surface.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9ECF5-B731-46A5-8441-5F054D76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FAE7F0-CC5D-4A2B-8658-AB3CE3DF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B95A0-431E-4EC5-A5F1-A59755BB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587293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EF30D-E776-41CC-AF86-B744EE36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28875"/>
            <a:ext cx="3400425" cy="2638425"/>
          </a:xfrm>
          <a:prstGeom xmlns:a="http://schemas.openxmlformats.org/drawingml/2006/main" prst="roundRect">
            <a:avLst>
              <a:gd name="adj" fmla="val 6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00DE2D-75D9-4D59-A4D5-4DABDD8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384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CA9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37D51-B3C3-40F4-8E57-B82FDCCA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HTTP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AAB5F-DE62-4C06-A690-DE3DE0A0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296227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MockMvc exercises status codes, JSON, authentication, and authorization.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24B3C-5C35-4C56-9184-9D5C8C1B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428875"/>
            <a:ext cx="3400425" cy="2638425"/>
          </a:xfrm>
          <a:prstGeom xmlns:a="http://schemas.openxmlformats.org/drawingml/2006/main" prst="roundRect">
            <a:avLst>
              <a:gd name="adj" fmla="val 6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011618-1770-4DF6-9AD1-72DAE88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384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28B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75F1D8-7AEB-4853-9DCC-B56173BA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6289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Real 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CD6EC-BB00-4E01-89A8-68F88E0F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76575"/>
            <a:ext cx="296227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Integration tests run against isolated PostgreSQL rather than an in-memory substitute.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2706D7-C90F-4225-AA67-DA10C163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28875"/>
            <a:ext cx="3400425" cy="2638425"/>
          </a:xfrm>
          <a:prstGeom xmlns:a="http://schemas.openxmlformats.org/drawingml/2006/main" prst="roundRect">
            <a:avLst>
              <a:gd name="adj" fmla="val 64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E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835F6-16EB-4505-975F-46BE80E0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38425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7D9E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E8F084-2BFB-427E-BFEF-E8B1E7E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09152A"/>
                </a:solidFill>
                <a:latin typeface="Avenir Next"/>
                <a:ea typeface="Avenir Next"/>
                <a:cs typeface="Avenir Next"/>
              </a:rPr>
              <a:t>Schema evolution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23AC1A-EE98-4B89-9450-F81F7F3B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076575"/>
            <a:ext cx="2962275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385173"/>
                </a:solidFill>
                <a:latin typeface="Avenir Next"/>
                <a:ea typeface="Avenir Next"/>
                <a:cs typeface="Avenir Next"/>
              </a:rPr>
              <a:t>Flyway tests verify a fresh database and versioned upgrade path.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BAFCB6-484C-4A43-BC67-B138A0D89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62575"/>
            <a:ext cx="11077575" cy="695325"/>
          </a:xfrm>
          <a:prstGeom xmlns:a="http://schemas.openxmlformats.org/drawingml/2006/main" prst="roundRect">
            <a:avLst>
              <a:gd name="adj" fmla="val 16438"/>
            </a:avLst>
          </a:prstGeom>
          <a:solidFill xmlns:a="http://schemas.openxmlformats.org/drawingml/2006/main">
            <a:srgbClr val="DFE9FB"/>
          </a:solidFill>
          <a:ln xmlns:a="http://schemas.openxmlformats.org/drawingml/2006/main" w="9525">
            <a:solidFill>
              <a:srgbClr val="C6D7F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30113-55FF-4DEF-9BB1-1024A220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0601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1A3761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1A3761"/>
                </a:solidFill>
                <a:latin typeface="Avenir Next"/>
                <a:ea typeface="Avenir Next"/>
                <a:cs typeface="Avenir Next"/>
              </a:rPr>
              <a:t>Compile ≠ verified behavior. Inspect the failing boundary, then add the smallest relevant test.</a:t>
            </a:r>
          </a:p>
        </p:txBody>
      </p:sp>
    </p:spTree>
    <p:extLst>
      <p:ext uri="{BB962C8B-B14F-4D97-AF65-F5344CB8AC3E}">
        <p14:creationId xmlns:p14="http://schemas.microsoft.com/office/powerpoint/2010/main" val="6042469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2203ED-6A39-4D45-81BA-0B872660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 /  LEARNING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2F997-A75A-4BD1-B0E3-0081CD217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9527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FAEFF-70B0-410C-97E9-223F7F3A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D2A480-2179-413F-B011-3A409392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1093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28BFF"/>
                </a:solidFill>
                <a:latin typeface="Avenir Next"/>
                <a:ea typeface="Avenir Next"/>
                <a:cs typeface="Avenir Next"/>
              </a:rPr>
              <a:t>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32639-760E-4687-B2A0-85CCE215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90625"/>
            <a:ext cx="109347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F8FBFF"/>
                </a:solidFill>
                <a:latin typeface="Avenir Next"/>
                <a:ea typeface="Avenir Next"/>
                <a:cs typeface="Avenir Next"/>
              </a:rPr>
              <a:t>Your first 20-minute code tour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7555AB-5FD5-4E5E-B754-5AB0449C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109347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Open these four real files in order. Explain each one out loud.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A5A7A-56E2-46DC-A8E0-7AC98040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03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BE7ACF-756E-4AC6-94B9-913315DD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Aegis · Spring foundations · 30 Sep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C58B65-E6F2-45D6-8084-5523A3A8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43675"/>
            <a:ext cx="3762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7890B2"/>
                </a:solidFill>
                <a:latin typeface="Avenir Next"/>
                <a:ea typeface="Avenir Next"/>
                <a:cs typeface="Avenir Next"/>
              </a:rPr>
              <a:t>EDUCATIONAL / SOURCE-LINKED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619351-7A0C-42DE-8624-6CF0C395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10871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5D87B-C022-45CF-A48C-29C973B0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35B21-28FE-451D-A731-FEA50A6C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3842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AegisControlApplication.java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C69D8-AEC5-4A10-A3DC-E7E4A6EA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38425"/>
            <a:ext cx="5105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Where does Spring start?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CC8B49-E033-4D03-9D8F-259EAAA2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67075"/>
            <a:ext cx="110871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42545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96DCB8-000B-4C90-BC0B-B179420D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F8DC7-9D1C-4272-84DB-8FE29C5D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2900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application.properties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1D499-75AB-4679-98BE-CC1E7685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5105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Where are database and Flyway configured?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BD433-51AD-432C-AD48-04106F7C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01C37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C8D5A2-B8F2-48DC-948B-1EC7772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D8273-BCA8-4320-B8A5-03E4C965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9575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V002__create_identity_and_catalog.sql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25B8E5-8D97-4481-A0C6-7C7F7767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9575"/>
            <a:ext cx="5105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Which rule does PostgreSQL enforce?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70BAE-E90C-49DF-ABA8-10FA2B93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11087100" cy="638175"/>
          </a:xfrm>
          <a:prstGeom xmlns:a="http://schemas.openxmlformats.org/drawingml/2006/main" prst="roundRect">
            <a:avLst>
              <a:gd name="adj" fmla="val 17910"/>
            </a:avLst>
          </a:prstGeom>
          <a:solidFill xmlns:a="http://schemas.openxmlformats.org/drawingml/2006/main">
            <a:srgbClr val="142545"/>
          </a:solidFill>
          <a:ln xmlns:a="http://schemas.openxmlformats.org/drawingml/2006/main" w="9525">
            <a:solidFill>
              <a:srgbClr val="2F456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5D58E3-2FAF-4D6D-95DD-5F9634A9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428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A28BFF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A28BF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F88740-EFD2-496F-932F-6461E95C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101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>
                <a:solidFill>
                  <a:srgbClr val="F8FBFF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F8FBFF"/>
                </a:solidFill>
                <a:latin typeface="Menlo"/>
                <a:ea typeface="Menlo"/>
                <a:cs typeface="Menlo"/>
              </a:rPr>
              <a:t>AccountRepository.java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7E0588-7127-42A0-8ECD-28DE6C62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10150"/>
            <a:ext cx="5105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6C6DF"/>
                </a:solidFill>
                <a:latin typeface="Avenir Next"/>
                <a:ea typeface="Avenir Next"/>
                <a:cs typeface="Avenir Next"/>
              </a:rPr>
              <a:t>Where does Java issue parameterized SQL?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496E71-38C6-444B-AE81-EAF2E43B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1087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>
                <a:solidFill>
                  <a:srgbClr val="DDEB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DDEBFF"/>
                </a:solidFill>
                <a:latin typeface="Avenir Next"/>
                <a:ea typeface="Avenir Next"/>
                <a:cs typeface="Avenir Next"/>
              </a:rPr>
              <a:t>Next module: trace /auth/login and /auth/me end to end.</a:t>
            </a:r>
          </a:p>
        </p:txBody>
      </p:sp>
    </p:spTree>
    <p:extLst>
      <p:ext uri="{BB962C8B-B14F-4D97-AF65-F5344CB8AC3E}">
        <p14:creationId xmlns:p14="http://schemas.microsoft.com/office/powerpoint/2010/main" val="329186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2026-09-30T23:30:22.8720000Z</dcterms:created>
  <dcterms:modified xsi:type="dcterms:W3CDTF">2026-09-30T23:30:22.8730000Z</dcterms:modified>
</coreProperties>
</file>