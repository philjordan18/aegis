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f74af59b84d68" /><Relationship Type="http://schemas.openxmlformats.org/officeDocument/2006/relationships/extended-properties" Target="/docProps/app.xml" Id="R24fe3329d914444e" /><Relationship Type="http://schemas.openxmlformats.org/officeDocument/2006/relationships/officeDocument" Target="/ppt/presentation.xml" Id="R4f8067d72c5840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2b2c9b2e554ae0"/>
  </p:sldMasterIdLst>
  <p:notesMasterIdLst>
    <p:notesMasterId xmlns:r="http://schemas.openxmlformats.org/officeDocument/2006/relationships" r:id="R86f4d1515af24810"/>
  </p:notesMasterIdLst>
  <p:sldIdLst>
    <p:sldId xmlns:r="http://schemas.openxmlformats.org/officeDocument/2006/relationships" id="256" r:id="Ra50944f229724b6d"/>
    <p:sldId xmlns:r="http://schemas.openxmlformats.org/officeDocument/2006/relationships" id="257" r:id="R5405a1e5904c4802"/>
    <p:sldId xmlns:r="http://schemas.openxmlformats.org/officeDocument/2006/relationships" id="258" r:id="R58d8c9cf01e94d36"/>
    <p:sldId xmlns:r="http://schemas.openxmlformats.org/officeDocument/2006/relationships" id="259" r:id="R842ae44380b84133"/>
    <p:sldId xmlns:r="http://schemas.openxmlformats.org/officeDocument/2006/relationships" id="260" r:id="Rf98cd4a86ae440d2"/>
    <p:sldId xmlns:r="http://schemas.openxmlformats.org/officeDocument/2006/relationships" id="261" r:id="Rfd4b65117c0c44fb"/>
    <p:sldId xmlns:r="http://schemas.openxmlformats.org/officeDocument/2006/relationships" id="262" r:id="R6a62fab988814636"/>
    <p:sldId xmlns:r="http://schemas.openxmlformats.org/officeDocument/2006/relationships" id="263" r:id="R5a971b7039dc48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b4d5791cff4169" /><Relationship Type="http://schemas.openxmlformats.org/officeDocument/2006/relationships/slideMaster" Target="/ppt/slideMasters/slideMaster1.xml" Id="R362b2c9b2e554ae0" /><Relationship Type="http://schemas.openxmlformats.org/officeDocument/2006/relationships/notesMaster" Target="/ppt/notesMasters/notesMaster1.xml" Id="R86f4d1515af24810" /><Relationship Type="http://schemas.openxmlformats.org/officeDocument/2006/relationships/presProps" Target="/ppt/presProps.xml" Id="R0797119dc99a4b4a" /><Relationship Type="http://schemas.openxmlformats.org/officeDocument/2006/relationships/tableStyles" Target="/ppt/tableStyles.xml" Id="R6e201edc6e00457d" /><Relationship Type="http://schemas.openxmlformats.org/officeDocument/2006/relationships/slide" Target="/ppt/slides/slide1.xml" Id="Ra50944f229724b6d" /><Relationship Type="http://schemas.openxmlformats.org/officeDocument/2006/relationships/slide" Target="/ppt/slides/slide2.xml" Id="R5405a1e5904c4802" /><Relationship Type="http://schemas.openxmlformats.org/officeDocument/2006/relationships/slide" Target="/ppt/slides/slide3.xml" Id="R58d8c9cf01e94d36" /><Relationship Type="http://schemas.openxmlformats.org/officeDocument/2006/relationships/slide" Target="/ppt/slides/slide4.xml" Id="R842ae44380b84133" /><Relationship Type="http://schemas.openxmlformats.org/officeDocument/2006/relationships/slide" Target="/ppt/slides/slide5.xml" Id="Rf98cd4a86ae440d2" /><Relationship Type="http://schemas.openxmlformats.org/officeDocument/2006/relationships/slide" Target="/ppt/slides/slide6.xml" Id="Rfd4b65117c0c44fb" /><Relationship Type="http://schemas.openxmlformats.org/officeDocument/2006/relationships/slide" Target="/ppt/slides/slide7.xml" Id="R6a62fab988814636" /><Relationship Type="http://schemas.openxmlformats.org/officeDocument/2006/relationships/slide" Target="/ppt/slides/slide8.xml" Id="R5a971b7039dc48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a6c66a39f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625436768455a" /><Relationship Type="http://schemas.openxmlformats.org/officeDocument/2006/relationships/notesMaster" Target="/ppt/notesMasters/notesMaster1.xml" Id="R697a62feada9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77f285e4e341c2" /><Relationship Type="http://schemas.openxmlformats.org/officeDocument/2006/relationships/notesMaster" Target="/ppt/notesMasters/notesMaster1.xml" Id="Rb7b46f27e80c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909719ffc84364" /><Relationship Type="http://schemas.openxmlformats.org/officeDocument/2006/relationships/notesMaster" Target="/ppt/notesMasters/notesMaster1.xml" Id="R79f1772244d742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8b61cbf75d4ef1" /><Relationship Type="http://schemas.openxmlformats.org/officeDocument/2006/relationships/notesMaster" Target="/ppt/notesMasters/notesMaster1.xml" Id="R5303b611d75947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ea35997a643cb" /><Relationship Type="http://schemas.openxmlformats.org/officeDocument/2006/relationships/notesMaster" Target="/ppt/notesMasters/notesMaster1.xml" Id="R2e8f34b5fac6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5d0804446d495d" /><Relationship Type="http://schemas.openxmlformats.org/officeDocument/2006/relationships/notesMaster" Target="/ppt/notesMasters/notesMaster1.xml" Id="Rbaabcee89aa744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33a1fecfe4b58" /><Relationship Type="http://schemas.openxmlformats.org/officeDocument/2006/relationships/notesMaster" Target="/ppt/notesMasters/notesMaster1.xml" Id="R3754c258267b43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869b6354f246f8" /><Relationship Type="http://schemas.openxmlformats.org/officeDocument/2006/relationships/notesMaster" Target="/ppt/notesMasters/notesMaster1.xml" Id="Rd938c2c0c7f0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Aegis cover art generated for this course pack. Repository: services/api/README.md; services/api/src/main/java/ca/aegis/control/identity/.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routes: services/api/README.md:3-8,45-58; AuthController.java:15-38. No signup in current P0 scope: docs/cahier-conception/02-scope.md section 11.1; current user-requested registration is to be scoped separately. Aegis authority model: AGENTS.md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RequestIdFilter.java:18-44; SecurityConfiguration.java:54-77,94-101; AuthController.java:15-38; SensitiveRequestValidator.java:10-37; AuthenticationService.java:27-38; AccountRepository.java:12-37; AccessTokens.java:47-63. See Spring Security servlet architecture: https://docs.spring.io/spring-security/reference/7.0/servlet/architecture.html . Diagram is simplified; it does not imply all planned routes are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services/api/src/main/java/ca/aegis/control/identity/AuthenticationService.java:27-38. The local attempt limiter, BCrypt encoder, account status and identical invalid-credentials path are implemented. Source excerpt uses 'matches' and 'a' as condensed local names; it is explanatory, not a byte-for-byte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SecurityConfiguration.java:103-115; AccessTokens.java:47-115; CurrentAccountAuthenticationConverter.java:24-30; CurrentAccountAuthentication.java:8-16; AuthController.java:33-38. Official Spring Security architecture: https://docs.spring.io/spring-security/reference/7.0/servlet/architecture.html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Exact/condensed configuration from SecurityConfiguration.java:54-77,79-101. AccessTokens.java:23-36,47-63 states 60-minute HS256 token without refresh. HTTP route classification in ApiRoutes.java:39-84. Disabling CSRF is in this stateless explicit-bearer context, not a general Spring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AuthenticationApiTests.java:67-98,143-170,345-403; AuthorizationTests.java:146-186; FlywayMigrationTests.java:49-69; ApiIntegrationTest.java:31-68. services/api/README.md documents verified local test command.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listed files exist in services/api/src/main/java/ca/aegis/control/identity/. The signup decision is a future scope/contract item explicitly requested by Philippe, not an implemented feature. Repository context: docs/cahier-conception/02-scope.md, docs/cahier-conception/09-contrats-rest.md.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8ea0683b34d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cfd472ce804002" /><Relationship Type="http://schemas.openxmlformats.org/officeDocument/2006/relationships/slideLayout" Target="/ppt/slideLayouts/slideLayout1.xml" Id="Reacbfa6d225b48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bfa6d225b48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d7c0d1f574f85" /><Relationship Type="http://schemas.openxmlformats.org/officeDocument/2006/relationships/image" Target="/ppt/media/image.png" Id="R95c0da6dd4664897" /><Relationship Type="http://schemas.openxmlformats.org/officeDocument/2006/relationships/notesSlide" Target="/ppt/notesSlides/notesSlide1.xml" Id="R1527024aa6a8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2b2489d184a18" /><Relationship Type="http://schemas.openxmlformats.org/officeDocument/2006/relationships/notesSlide" Target="/ppt/notesSlides/notesSlide2.xml" Id="R43eea3ffee4e43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e5bb8d9da40db" /><Relationship Type="http://schemas.openxmlformats.org/officeDocument/2006/relationships/notesSlide" Target="/ppt/notesSlides/notesSlide3.xml" Id="Rcf77f6a7c6af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78a1da27a498b" /><Relationship Type="http://schemas.openxmlformats.org/officeDocument/2006/relationships/notesSlide" Target="/ppt/notesSlides/notesSlide4.xml" Id="R6ca8185c028742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502b4e8740b4" /><Relationship Type="http://schemas.openxmlformats.org/officeDocument/2006/relationships/notesSlide" Target="/ppt/notesSlides/notesSlide5.xml" Id="R8a072e432c9541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7b6479d88474c" /><Relationship Type="http://schemas.openxmlformats.org/officeDocument/2006/relationships/notesSlide" Target="/ppt/notesSlides/notesSlide6.xml" Id="R2dc16ee87d0f4f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b20231d36434d" /><Relationship Type="http://schemas.openxmlformats.org/officeDocument/2006/relationships/notesSlide" Target="/ppt/notesSlides/notesSlide7.xml" Id="Rb8fc36f6621f41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0f368f41a4fbe" /><Relationship Type="http://schemas.openxmlformats.org/officeDocument/2006/relationships/notesSlide" Target="/ppt/notesSlides/notesSlide8.xml" Id="R011711b2295443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0da6dd46648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E6015-2ADB-433E-BA72-34D5574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E6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D7E6FF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FB51F-E59B-45C6-820A-153F939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90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42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The Spring IAM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4F5D7-A51E-41E2-9A2F-7987DA8F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rPr>
              <a:t>Trace sign-in, tokens, authorization, and tests</a:t>
            </a:r>
          </a:p>
          <a:p xmlns:a="http://schemas.openxmlformats.org/drawingml/2006/main">
            <a:pPr algn="l">
              <a:def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rPr>
              <a:t>through the code Aegis actually has.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FCC62-7DDD-45DA-BCAC-01A4BF57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4A9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8252E-C7FB-4236-8004-36014499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633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1E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FD1EE"/>
                </a:solidFill>
                <a:latin typeface="Avenir Next"/>
                <a:ea typeface="Avenir Next"/>
                <a:cs typeface="Avenir Next"/>
              </a:rPr>
              <a:t>MODULE 02  ·  IMPLEMENTED BACKEND</a:t>
            </a:r>
          </a:p>
        </p:txBody>
      </p:sp>
    </p:spTree>
    <p:extLst>
      <p:ext uri="{BB962C8B-B14F-4D97-AF65-F5344CB8AC3E}">
        <p14:creationId xmlns:p14="http://schemas.microsoft.com/office/powerpoint/2010/main" val="927367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3528F-E48F-4B43-8460-6F7D5E6D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73801-DC22-4B76-9F48-88DDD835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F5FEA-68D7-4F71-8DBA-5ACEBCAB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4A386-BA1C-4E29-AD37-CB3B69B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5EEBF-5EDA-40D5-AF27-6493477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 real sign-in slice — no signup yet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88CCD-415B-454C-80F9-A3B4EDC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The Web and iOS apps authenticate through the Spring API; the database is private.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37EC0-B342-4DFF-BED8-46CFCD85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DCE39-A926-4F17-88F5-0B5A8175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8AC4D-064D-4448-9CF9-ADC43F3B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7F849-6444-4225-A07F-CC96349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76525"/>
            <a:ext cx="33909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0F1FB-CB6A-45DE-B4F1-C404C01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9CFA4-8BB2-4D6E-83AC-F585E05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DA44-B7C0-4C6B-BB15-79145B83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2933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POST /api/v1/auth/login</a:t>
            </a:r>
          </a:p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GET /api/v1/auth/me</a:t>
            </a:r>
          </a:p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JWT validation and live account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DDBE-22A3-4FA5-87C1-D57F871D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76525"/>
            <a:ext cx="33909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8FE38-F589-43E0-9878-C78637ED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860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709F7-19D1-4141-8CC0-4AE0AFB4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670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Not 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E5BAF-6E46-4317-91C0-A51649FC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62325"/>
            <a:ext cx="2933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No public registration route</a:t>
            </a:r>
          </a:p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No refresh token</a:t>
            </a:r>
          </a:p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No Web/iOS auth client yet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9AB6C-6D35-4186-A944-D9D5FD57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76525"/>
            <a:ext cx="33909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9EB79-C78B-4A7A-94B1-B7CAACC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860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0B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C8A9B-D7B3-4ED5-8D4F-E15AFD2D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670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465B1-E3ED-4BE2-920C-46828B23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2933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Only Spring grants access. Neither a UI form nor an ESP32 can create a session or role.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CAA7D-DB16-4078-A643-76EC684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rPr>
              <a:t>A registration screen is a product and trust decision, not a front-end-only feature.</a:t>
            </a:r>
          </a:p>
        </p:txBody>
      </p:sp>
    </p:spTree>
    <p:extLst>
      <p:ext uri="{BB962C8B-B14F-4D97-AF65-F5344CB8AC3E}">
        <p14:creationId xmlns:p14="http://schemas.microsoft.com/office/powerpoint/2010/main" val="880267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065C8-4E60-4B2C-BAB2-B2F7BEB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1E422-AC8A-480E-87F2-4C2AB88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CFB76-987E-44E2-9320-3BD6F7FE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24EA1-63D9-4088-ACE5-022D9AE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REQUEST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C3954-C16B-4C4E-88F4-010237E4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What POST /auth/login does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2EA4E-7B9D-4B07-9DFF-FFCB0B47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The public route permits a request, but the service still verifies the credentials.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8D95A-82C1-4E6B-8420-F875898D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9EC7B-4147-429A-9A3C-07E6EDE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2D80B-4717-4C02-AF20-C40C3C3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78AC0-82C8-4D67-A305-9CE3949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2076450" cy="217170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DA351-F12F-4765-A431-9D81A0B1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2F555-CABD-48EB-AEB0-60E8995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1F1CC-7E57-4A1C-B2C0-15A03C6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JSON + client 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92FD0-D2EC-4690-B23C-DE77BF6D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5814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69912-819A-4A2F-BD64-014828B1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62250"/>
            <a:ext cx="2076450" cy="217170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7ACC4-67A2-4B02-A00C-07DAD88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20E15-73B0-47FB-B7EB-83DC3B6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0F51A-43FB-4D2D-A7AF-2A08D47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48075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Validate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4F051-FDA0-4C09-9E29-2E5340AD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814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8563D-F681-4CCB-B4C3-09F7B2E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76450" cy="217170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DCB6F-B8A5-427A-888A-F50B3FC6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8132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ADAEC-6018-4C78-A998-967ED775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0995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2562B-B76C-4CF4-A468-6B81956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48075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Limit + BCrypt + account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B00D6-AD24-428D-8786-E3F27601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814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748EE-5E3A-4DAA-8FBF-1994019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2076450" cy="217170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DB5F6-E6B7-49F4-BA99-A7807E93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8132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REPOSITORY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1C65A-7C1E-4E4F-BA91-56386852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995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E8C4E-E07E-4575-A495-C9D5DCF4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8075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Read aegis.users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26BE0-DFC6-4148-BB88-5055F7CC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814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FC2BF1-AB0B-416C-978E-3BC1A98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62250"/>
            <a:ext cx="2076450" cy="217170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5BAF5-DB46-4E80-A915-A9E3B6D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8132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4A3C3-874A-428D-B0FF-EC03058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0995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C28EDD-9274-4370-BEE0-D19CDDC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48075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Issue 60-min JWT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A9FDE-D872-4140-9B13-D8E152B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rPr>
              <a:t>Invalid credentials return one refusal path; no account existence is disclosed.</a:t>
            </a:r>
          </a:p>
        </p:txBody>
      </p:sp>
    </p:spTree>
    <p:extLst>
      <p:ext uri="{BB962C8B-B14F-4D97-AF65-F5344CB8AC3E}">
        <p14:creationId xmlns:p14="http://schemas.microsoft.com/office/powerpoint/2010/main" val="1873085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AFC32-23A3-4EC0-A43D-F05387A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C91CA-8C13-45E4-B633-2E61B06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EE5F8-7E31-4B7E-B2A5-B9FC2620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D1B33-55BE-43B3-BBFF-735A99ED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BUSINESS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0FC08-7903-4BC3-AA9C-3EC288CF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The controller is thin; the service decides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D0209-C4D1-4592-9A13-D56833D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Trace the actual login service instead of placing credential logic in HTTP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A616A-DE85-4699-8FDA-5A2061B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42B93-B405-4092-963A-BBA24814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7FEF0-AF59-4BAC-8E6D-0E35B6E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3FFBD-C0CF-4DFD-81FC-DCA0F42B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6705600" cy="2990850"/>
          </a:xfrm>
          <a:prstGeom xmlns:a="http://schemas.openxmlformats.org/drawingml/2006/main" prst="roundRect">
            <a:avLst>
              <a:gd name="adj" fmla="val 5732"/>
            </a:avLst>
          </a:prstGeom>
          <a:solidFill xmlns:a="http://schemas.openxmlformats.org/drawingml/2006/main">
            <a:srgbClr val="0B1730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3F764-1692-416F-A9DA-2EB572B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670560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37EE7-7DCD-45B1-8D3E-F8278225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628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D9E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7D9EA"/>
                </a:solidFill>
                <a:latin typeface="Menlo"/>
                <a:ea typeface="Menlo"/>
                <a:cs typeface="Menlo"/>
              </a:rPr>
              <a:t>AUTHENTICATIONSERVICE.JAVA · CONDENSED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A0DA5-C92C-4FCF-89A1-E2A29DE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14675"/>
            <a:ext cx="62293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attempts.acquire(clientAddress, request.email());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var candidate = accounts.findByEmail(request.email());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boolean matches = passwordEncoder.matches(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  request.password(),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  candidate.map(Account::passwordHash)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    .orElse(unknownAccountHash));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var account = candidate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  .filter(a -&gt; matches &amp;&amp; a.canAuthenticate())</a:t>
            </a:r>
          </a:p>
          <a:p xmlns:a="http://schemas.openxmlformats.org/drawingml/2006/main">
            <a:pPr algn="l">
              <a:defRPr sz="1125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  .orElseThrow(InvalidCredentialsException::new);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96287-2BFE-4188-B50A-6B316292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41148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7B940-CF1E-4EC6-961B-DC6BFA0E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336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C9D94-3AC5-45EE-A43D-439A15CE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Why a dummy hash?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5ACB4-355F-40B8-AD04-6BF843E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9925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An unknown address still goes through a password-hash check.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84F44-89CA-412D-A235-38FE0DA5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41148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C8851-D5F2-47AA-8229-50E0CBB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338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EE3A4-2B94-45AC-8B26-5BC42C0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Why check status?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DC872-E12E-41F0-9CCB-4B32C54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0125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A disabled account cannot authenticate even with a correct password.</a:t>
            </a:r>
          </a:p>
        </p:txBody>
      </p:sp>
    </p:spTree>
    <p:extLst>
      <p:ext uri="{BB962C8B-B14F-4D97-AF65-F5344CB8AC3E}">
        <p14:creationId xmlns:p14="http://schemas.microsoft.com/office/powerpoint/2010/main" val="935260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A1E47-FF8E-4102-81E7-BB695039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CD9B5-6917-428A-9336-0321D60F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E6291-02CC-4599-8E10-8D5C3E32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D0F82-DD71-4B72-BE95-650F7962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PROTECTED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4C75B-ED14-43CB-867D-E8516687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GET /auth/me does not trust stale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BE04C-A404-42C4-B801-C598E68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The token establishes identity; the current database account remains the authorization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E131E-0515-458A-A33D-48FEDAB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0DE1B-7F63-456D-A538-7162B78E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229E4-3938-4E26-9EBF-4F85FC6A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772C9-4682-433F-A01C-DE4D49FD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3400425" cy="23145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325CE-F85C-4684-9BE6-67C645D7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39175-250A-41FB-87A6-E8E122C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1  Verify JWT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FCA93-8BC6-4F96-B029-6295F1A2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943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Check HS256 signature, issuer, audience, subject, ID, issue time, and expiry.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F3F0A-947D-467E-9B84-EB6E40D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05100"/>
            <a:ext cx="3400425" cy="23145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48984-A78F-41E5-86F2-CDE584C5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146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0D6AA-98C7-4E3A-9969-83B50FC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956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2  Re-read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184AA-D607-4A2E-95C8-9E2DB18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2943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Load the account by token subject; reject it if disabled or missing.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6359A-8976-454D-BD77-7177F23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400425" cy="23145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5A7DC-EDF5-431E-BC39-BDBF8759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0B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DB585-88B9-4166-95E2-E7F88277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3  Apply current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CB20A-98EF-4DCE-9C2F-D66D562F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2943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Build authentication from the database's current role and access level.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60D4C-AC6E-47FE-9221-B976487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EE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4EEFF"/>
                </a:solidFill>
                <a:latin typeface="Avenir Next"/>
                <a:ea typeface="Avenir Next"/>
                <a:cs typeface="Avenir Next"/>
              </a:rPr>
              <a:t>A role claim records login-time state. It is not the final grant on later requests.</a:t>
            </a:r>
          </a:p>
        </p:txBody>
      </p:sp>
    </p:spTree>
    <p:extLst>
      <p:ext uri="{BB962C8B-B14F-4D97-AF65-F5344CB8AC3E}">
        <p14:creationId xmlns:p14="http://schemas.microsoft.com/office/powerpoint/2010/main" val="1400512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F9867-43C0-45F8-8B06-109DB57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C2228-F91B-4C4F-B8F5-1EC037A8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826EC-891E-4AB7-AF00-921B963E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3A4A0-F057-4EA3-B24D-B265CD6C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SECURITY DEFAULTS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D8066-8569-483C-A9D1-66038713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Stateless means explicit bearer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87097-45DB-4B13-B0AA-CFFC7574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Aegis disables browser-session flows and controls every documented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B83C1-D918-4020-9DF3-7B57AFBE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023BA-A9C8-4D53-AD5C-2738762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D17B6-E516-4B3C-9DFE-D6B53C3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74A9D-89EB-4967-8325-9D2AF007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6067425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0B1730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C326F-A301-40BB-B1CC-C252EBAA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6067425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0DCA8-795E-4546-BB5C-3D19A08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648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D9E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7D9EA"/>
                </a:solidFill>
                <a:latin typeface="Menlo"/>
                <a:ea typeface="Menlo"/>
                <a:cs typeface="Menlo"/>
              </a:rPr>
              <a:t>SECURITYCONFIGURATION.JAVA · EXCERPT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12501-1DDC-497E-A809-8A212211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33725"/>
            <a:ext cx="55911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.csrf(AbstractHttpConfigurer::disable)</a:t>
            </a:r>
          </a:p>
          <a:p xmlns:a="http://schemas.openxmlformats.org/drawingml/2006/main">
            <a:pPr algn="l">
              <a:defRPr sz="1200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.sessionManagement(s -&gt; s.sessionCreationPolicy(</a:t>
            </a:r>
          </a:p>
          <a:p xmlns:a="http://schemas.openxmlformats.org/drawingml/2006/main">
            <a:pPr algn="l">
              <a:defRPr sz="1200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  SessionCreationPolicy.STATELESS))</a:t>
            </a:r>
          </a:p>
          <a:p xmlns:a="http://schemas.openxmlformats.org/drawingml/2006/main">
            <a:pPr algn="l">
              <a:defRPr sz="1200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.httpBasic(AbstractHttpConfigurer::disable)</a:t>
            </a:r>
          </a:p>
          <a:p xmlns:a="http://schemas.openxmlformats.org/drawingml/2006/main">
            <a:pPr algn="l">
              <a:defRPr sz="1200" b="0">
                <a:solidFill>
                  <a:srgbClr val="E4EE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4EEFF"/>
                </a:solidFill>
                <a:latin typeface="Menlo"/>
                <a:ea typeface="Menlo"/>
                <a:cs typeface="Menlo"/>
              </a:rPr>
              <a:t>.formLogin(AbstractHttpConfigurer::disable)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B6BDF-4BAB-491A-8B51-5F69342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43175"/>
            <a:ext cx="4714875" cy="1304925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0575A-8604-4EFA-8B04-3CD9BAC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527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D7554-C515-4AD8-BA35-4A00414F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33675"/>
            <a:ext cx="414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Public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CB261-6248-4A61-9F40-202A4E35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28975"/>
            <a:ext cx="4257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A stale bearer header is ignored on login and health routes.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B364D-00E6-4D2F-98D2-D5BB61C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48125"/>
            <a:ext cx="4714875" cy="1304925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9ED15-CFA2-4B87-8DC5-9EEA766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576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267EF-4C63-4F0B-8F21-29BBA776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38625"/>
            <a:ext cx="414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Protected routes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CFA16-9FFB-4C5D-B289-BD0D8FB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257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Require a valid token and a live, authorized account.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F65A7-32EC-4DBA-BA54-4872D5A1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rPr>
              <a:t>There is no refresh token in the current P0 IAM design.</a:t>
            </a:r>
          </a:p>
        </p:txBody>
      </p:sp>
    </p:spTree>
    <p:extLst>
      <p:ext uri="{BB962C8B-B14F-4D97-AF65-F5344CB8AC3E}">
        <p14:creationId xmlns:p14="http://schemas.microsoft.com/office/powerpoint/2010/main" val="1332486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0D0B9-12D9-4310-8F5C-D0A55FD6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D981A-294B-48D8-8EDD-B6949086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B706D-209C-495E-A984-635C2518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BA15A-AED1-480D-ACB1-1C1F94A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E558B-4CBE-4539-9E1D-3123DB38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Test behavior, not just compilation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C69B3-82F2-418B-B817-2B0A727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The integration suite uses MockMvc and isolated real PostgreSQL.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D43FD-2E28-484D-AC66-D5025919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81861-E2E8-49EB-A778-FD7534BA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DC607-CF85-4644-8D14-4D6D64F1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A4C09-DF58-405C-A57E-64E132A0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400425" cy="26289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866EC-FF94-4354-8C57-E09F4EDC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DFF75-86DF-44C8-B95D-29015040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54B01-19C6-482A-A491-4ABDB455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4322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Correct credentials work; wrong and unknown users get indistinguishable refusal; expired tokens fail.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A071C-3AFF-43CE-8998-8B2E2E37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71750"/>
            <a:ext cx="3400425" cy="26289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DE20D-C3CE-44E1-8C5D-9B53812B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813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E59FD-F52B-4E4B-AE45-3C7F60F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622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Authorization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A3958-6696-42A9-A64E-7BBFFF2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57550"/>
            <a:ext cx="294322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A role or account-status change in the database affects already-issued tokens.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05BFA-EDA9-46F6-B0BF-038C037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400425" cy="26289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47B38-2B41-462E-93BC-83930DE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0B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EA2DD-A2B3-417E-ACA9-2CB5C6C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831E7-EE6F-4DA2-8476-556FFE2E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294322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Flyway starts a fresh database and validates migration ordering.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5B795-6CFF-4B8B-B930-A12C9C3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4EEFF"/>
                </a:solidFill>
                <a:latin typeface="Avenir Next"/>
                <a:ea typeface="Avenir Next"/>
                <a:cs typeface="Avenir Next"/>
              </a:rPr>
              <a:t>Read the test that proves each claim before you change that behavior.</a:t>
            </a:r>
          </a:p>
        </p:txBody>
      </p:sp>
    </p:spTree>
    <p:extLst>
      <p:ext uri="{BB962C8B-B14F-4D97-AF65-F5344CB8AC3E}">
        <p14:creationId xmlns:p14="http://schemas.microsoft.com/office/powerpoint/2010/main" val="1939128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C740B-04A8-4A47-933E-B544ECF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DB73D-F8F9-4E58-A827-F17B222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198BA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CDBA4-F969-4285-BBDC-2C6CD22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93568-0EFC-4512-84C5-31D052C9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FC3C3-C4F2-4375-8CC8-C0C16AE3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Your IAM code tour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1D57A-CC41-429A-80CA-219A55F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Follow one login and one /me request. Then answer these questions without looking.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58FE-D497-4AD8-A4B5-CB4D1CA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AAF9B-61CA-4028-A7F5-9CBB497E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IAM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7B860-2702-42BB-B44D-2752FF2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43675"/>
            <a:ext cx="408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IMPLEMENTED CODE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BBC34-99F7-4DEB-82F6-B73A11B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10775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790F3-DD44-40C1-8A9E-895C703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98CC2-EB22-4B09-BF14-865C11A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AuthController.java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8981A-CC75-4358-A36F-4B3A08FD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What does the controller delegate?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A9E0A-86E9-4336-BB59-DD6A73DD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10775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07E8A-DA3D-449B-8F4C-53D932D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985DD-DDC6-4D51-8A04-35DC717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AuthenticationService.java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305F5-578F-4A4A-9457-664B2B31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575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Where are credentials and status checked?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71D60-4290-4D90-B931-0CC8592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775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A6ECC-C063-42A6-8672-D828DCF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8DBD9-21DE-4AE1-B341-8A88F262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005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AccessTokens.java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296AA-45A6-4B80-AA62-D9F6577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What expires, and when?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6A8B6-A106-4135-8F54-C1F3B43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110775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30476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E1D2B-F947-429A-8E36-8CF69FC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B1808-E40B-45A4-8F72-3052893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CurrentAccountAuthenticationConverter.java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09424-E78C-4AC0-A3E2-C7813AF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434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E3"/>
                </a:solidFill>
                <a:latin typeface="Avenir Next"/>
                <a:ea typeface="Avenir Next"/>
                <a:cs typeface="Avenir Next"/>
              </a:rPr>
              <a:t>Why re-read the account?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C61A9-60DC-4444-8D6F-D29519D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EE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4EEFF"/>
                </a:solidFill>
                <a:latin typeface="Avenir Next"/>
                <a:ea typeface="Avenir Next"/>
                <a:cs typeface="Avenir Next"/>
              </a:rPr>
              <a:t>Next decision: define who may create accounts before adding signup to the API.</a:t>
            </a:r>
          </a:p>
        </p:txBody>
      </p:sp>
    </p:spTree>
    <p:extLst>
      <p:ext uri="{BB962C8B-B14F-4D97-AF65-F5344CB8AC3E}">
        <p14:creationId xmlns:p14="http://schemas.microsoft.com/office/powerpoint/2010/main" val="260087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2026-09-30T23:42:48.5130000Z</dcterms:created>
  <dcterms:modified xsi:type="dcterms:W3CDTF">2026-09-30T23:42:48.5140000Z</dcterms:modified>
</coreProperties>
</file>